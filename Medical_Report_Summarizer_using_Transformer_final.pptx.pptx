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Times New Roman MT Bold" charset="1" panose="02030802070405020303"/>
      <p:regular r:id="rId20"/>
    </p:embeddedFont>
    <p:embeddedFont>
      <p:font typeface="Times New Roman MT" charset="1" panose="02030502070405020303"/>
      <p:regular r:id="rId21"/>
    </p:embeddedFont>
    <p:embeddedFont>
      <p:font typeface="Barlow Bold" charset="1" panose="00000800000000000000"/>
      <p:regular r:id="rId23"/>
    </p:embeddedFont>
    <p:embeddedFont>
      <p:font typeface="Montserrat" charset="1" panose="000005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notesSlides/notesSlide2.xml" Type="http://schemas.openxmlformats.org/officeDocument/2006/relationships/notesSlide"/><Relationship Id="rId23" Target="fonts/font23.fntdata" Type="http://schemas.openxmlformats.org/officeDocument/2006/relationships/font"/><Relationship Id="rId24" Target="fonts/font24.fntdata" Type="http://schemas.openxmlformats.org/officeDocument/2006/relationships/font"/><Relationship Id="rId25" Target="notesSlides/notesSlide3.xml" Type="http://schemas.openxmlformats.org/officeDocument/2006/relationships/notesSlide"/><Relationship Id="rId26" Target="notesSlides/notesSlide4.xml" Type="http://schemas.openxmlformats.org/officeDocument/2006/relationships/notesSlide"/><Relationship Id="rId27" Target="notesSlides/notesSlide5.xml" Type="http://schemas.openxmlformats.org/officeDocument/2006/relationships/notesSlide"/><Relationship Id="rId28" Target="notesSlides/notesSlide6.xml" Type="http://schemas.openxmlformats.org/officeDocument/2006/relationships/notesSlide"/><Relationship Id="rId29" Target="notesSlides/notesSlide7.xml" Type="http://schemas.openxmlformats.org/officeDocument/2006/relationships/notesSlide"/><Relationship Id="rId3" Target="viewProps.xml" Type="http://schemas.openxmlformats.org/officeDocument/2006/relationships/viewProps"/><Relationship Id="rId30" Target="notesSlides/notesSlide8.xml" Type="http://schemas.openxmlformats.org/officeDocument/2006/relationships/notesSlide"/><Relationship Id="rId31" Target="notesSlides/notesSlide9.xml" Type="http://schemas.openxmlformats.org/officeDocument/2006/relationships/notesSlide"/><Relationship Id="rId32" Target="notesSlides/notesSlide10.xml" Type="http://schemas.openxmlformats.org/officeDocument/2006/relationships/notesSlide"/><Relationship Id="rId33" Target="notesSlides/notesSlide11.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a:grpSpLocks noChangeAspect="true"/>
          </p:cNvGrpSpPr>
          <p:nvPr/>
        </p:nvGrpSpPr>
        <p:grpSpPr>
          <a:xfrm rot="0">
            <a:off x="11087100" y="0"/>
            <a:ext cx="7200900" cy="10287000"/>
            <a:chOff x="0" y="0"/>
            <a:chExt cx="9601200" cy="13716000"/>
          </a:xfrm>
        </p:grpSpPr>
        <p:sp>
          <p:nvSpPr>
            <p:cNvPr name="Freeform 5" id="5"/>
            <p:cNvSpPr/>
            <p:nvPr/>
          </p:nvSpPr>
          <p:spPr>
            <a:xfrm flipH="false" flipV="false" rot="0">
              <a:off x="0" y="0"/>
              <a:ext cx="9601200" cy="13716000"/>
            </a:xfrm>
            <a:custGeom>
              <a:avLst/>
              <a:gdLst/>
              <a:ahLst/>
              <a:cxnLst/>
              <a:rect r="r" b="b" t="t" l="l"/>
              <a:pathLst>
                <a:path h="13716000" w="9601200">
                  <a:moveTo>
                    <a:pt x="0" y="0"/>
                  </a:moveTo>
                  <a:lnTo>
                    <a:pt x="9601200" y="0"/>
                  </a:lnTo>
                  <a:lnTo>
                    <a:pt x="9601200" y="13716000"/>
                  </a:lnTo>
                  <a:lnTo>
                    <a:pt x="0" y="13716000"/>
                  </a:lnTo>
                  <a:lnTo>
                    <a:pt x="0" y="0"/>
                  </a:lnTo>
                  <a:close/>
                </a:path>
              </a:pathLst>
            </a:custGeom>
            <a:blipFill>
              <a:blip r:embed="rId4"/>
              <a:stretch>
                <a:fillRect l="-57075" t="0" r="-57075" b="0"/>
              </a:stretch>
            </a:blipFill>
          </p:spPr>
        </p:sp>
      </p:grpSp>
      <p:sp>
        <p:nvSpPr>
          <p:cNvPr name="TextBox 6" id="6"/>
          <p:cNvSpPr txBox="true"/>
          <p:nvPr/>
        </p:nvSpPr>
        <p:spPr>
          <a:xfrm rot="0">
            <a:off x="843879" y="1089176"/>
            <a:ext cx="9534228" cy="1641475"/>
          </a:xfrm>
          <a:prstGeom prst="rect">
            <a:avLst/>
          </a:prstGeom>
        </p:spPr>
        <p:txBody>
          <a:bodyPr anchor="t" rtlCol="false" tIns="0" lIns="0" bIns="0" rIns="0">
            <a:spAutoFit/>
          </a:bodyPr>
          <a:lstStyle/>
          <a:p>
            <a:pPr algn="l">
              <a:lnSpc>
                <a:spcPts val="6125"/>
              </a:lnSpc>
            </a:pPr>
            <a:r>
              <a:rPr lang="en-US" sz="4875" b="true">
                <a:solidFill>
                  <a:srgbClr val="2E3C4E"/>
                </a:solidFill>
                <a:latin typeface="Times New Roman MT Bold"/>
                <a:ea typeface="Times New Roman MT Bold"/>
                <a:cs typeface="Times New Roman MT Bold"/>
                <a:sym typeface="Times New Roman MT Bold"/>
              </a:rPr>
              <a:t>Medical Report Summarizer using Transformer</a:t>
            </a:r>
          </a:p>
        </p:txBody>
      </p:sp>
      <p:sp>
        <p:nvSpPr>
          <p:cNvPr name="TextBox 7" id="7"/>
          <p:cNvSpPr txBox="true"/>
          <p:nvPr/>
        </p:nvSpPr>
        <p:spPr>
          <a:xfrm rot="0">
            <a:off x="947886" y="3357904"/>
            <a:ext cx="9534228" cy="1037339"/>
          </a:xfrm>
          <a:prstGeom prst="rect">
            <a:avLst/>
          </a:prstGeom>
        </p:spPr>
        <p:txBody>
          <a:bodyPr anchor="t" rtlCol="false" tIns="0" lIns="0" bIns="0" rIns="0">
            <a:spAutoFit/>
          </a:bodyPr>
          <a:lstStyle/>
          <a:p>
            <a:pPr algn="l">
              <a:lnSpc>
                <a:spcPts val="4071"/>
              </a:lnSpc>
            </a:pPr>
            <a:r>
              <a:rPr lang="en-US" sz="2512">
                <a:solidFill>
                  <a:srgbClr val="384653"/>
                </a:solidFill>
                <a:latin typeface="Times New Roman MT"/>
                <a:ea typeface="Times New Roman MT"/>
                <a:cs typeface="Times New Roman MT"/>
                <a:sym typeface="Times New Roman MT"/>
              </a:rPr>
              <a:t>An AI-powered solution for generating concise summaries of complex medical reports using custom Transformer architecture</a:t>
            </a:r>
          </a:p>
        </p:txBody>
      </p:sp>
      <p:sp>
        <p:nvSpPr>
          <p:cNvPr name="TextBox 8" id="8"/>
          <p:cNvSpPr txBox="true"/>
          <p:nvPr/>
        </p:nvSpPr>
        <p:spPr>
          <a:xfrm rot="0">
            <a:off x="1028700" y="6100779"/>
            <a:ext cx="3989657" cy="3157521"/>
          </a:xfrm>
          <a:prstGeom prst="rect">
            <a:avLst/>
          </a:prstGeom>
        </p:spPr>
        <p:txBody>
          <a:bodyPr anchor="t" rtlCol="false" tIns="0" lIns="0" bIns="0" rIns="0">
            <a:spAutoFit/>
          </a:bodyPr>
          <a:lstStyle/>
          <a:p>
            <a:pPr algn="l">
              <a:lnSpc>
                <a:spcPts val="4191"/>
              </a:lnSpc>
            </a:pPr>
            <a:r>
              <a:rPr lang="en-US" sz="2587" b="true">
                <a:solidFill>
                  <a:srgbClr val="384653"/>
                </a:solidFill>
                <a:latin typeface="Times New Roman MT Bold"/>
                <a:ea typeface="Times New Roman MT Bold"/>
                <a:cs typeface="Times New Roman MT Bold"/>
                <a:sym typeface="Times New Roman MT Bold"/>
              </a:rPr>
              <a:t>Project Team: </a:t>
            </a:r>
          </a:p>
          <a:p>
            <a:pPr algn="l">
              <a:lnSpc>
                <a:spcPts val="4191"/>
              </a:lnSpc>
            </a:pPr>
            <a:r>
              <a:rPr lang="en-US" sz="2587">
                <a:solidFill>
                  <a:srgbClr val="384653"/>
                </a:solidFill>
                <a:latin typeface="Times New Roman MT"/>
                <a:ea typeface="Times New Roman MT"/>
                <a:cs typeface="Times New Roman MT"/>
                <a:sym typeface="Times New Roman MT"/>
              </a:rPr>
              <a:t>Roma Rajbhar (22000921), </a:t>
            </a:r>
          </a:p>
          <a:p>
            <a:pPr algn="l">
              <a:lnSpc>
                <a:spcPts val="4191"/>
              </a:lnSpc>
            </a:pPr>
            <a:r>
              <a:rPr lang="en-US" sz="2587">
                <a:solidFill>
                  <a:srgbClr val="384653"/>
                </a:solidFill>
                <a:latin typeface="Times New Roman MT"/>
                <a:ea typeface="Times New Roman MT"/>
                <a:cs typeface="Times New Roman MT"/>
                <a:sym typeface="Times New Roman MT"/>
              </a:rPr>
              <a:t>Shristi Mishra (22000793), </a:t>
            </a:r>
          </a:p>
          <a:p>
            <a:pPr algn="l">
              <a:lnSpc>
                <a:spcPts val="4191"/>
              </a:lnSpc>
            </a:pPr>
            <a:r>
              <a:rPr lang="en-US" sz="2587">
                <a:solidFill>
                  <a:srgbClr val="384653"/>
                </a:solidFill>
                <a:latin typeface="Times New Roman MT"/>
                <a:ea typeface="Times New Roman MT"/>
                <a:cs typeface="Times New Roman MT"/>
                <a:sym typeface="Times New Roman MT"/>
              </a:rPr>
              <a:t>Janvi Patel (22000877), </a:t>
            </a:r>
          </a:p>
          <a:p>
            <a:pPr algn="l">
              <a:lnSpc>
                <a:spcPts val="4191"/>
              </a:lnSpc>
            </a:pPr>
            <a:r>
              <a:rPr lang="en-US" sz="2587">
                <a:solidFill>
                  <a:srgbClr val="384653"/>
                </a:solidFill>
                <a:latin typeface="Times New Roman MT"/>
                <a:ea typeface="Times New Roman MT"/>
                <a:cs typeface="Times New Roman MT"/>
                <a:sym typeface="Times New Roman MT"/>
              </a:rPr>
              <a:t>Ahad Shaikh (22000762), </a:t>
            </a:r>
          </a:p>
          <a:p>
            <a:pPr algn="l">
              <a:lnSpc>
                <a:spcPts val="4193"/>
              </a:lnSpc>
            </a:pPr>
            <a:r>
              <a:rPr lang="en-US" sz="2587">
                <a:solidFill>
                  <a:srgbClr val="384653"/>
                </a:solidFill>
                <a:latin typeface="Times New Roman MT"/>
                <a:ea typeface="Times New Roman MT"/>
                <a:cs typeface="Times New Roman MT"/>
                <a:sym typeface="Times New Roman MT"/>
              </a:rPr>
              <a:t>Vraj Shah (22000776)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501136" y="1171452"/>
            <a:ext cx="17537214" cy="1097691"/>
          </a:xfrm>
          <a:prstGeom prst="rect">
            <a:avLst/>
          </a:prstGeom>
        </p:spPr>
        <p:txBody>
          <a:bodyPr anchor="t" rtlCol="false" tIns="0" lIns="0" bIns="0" rIns="0">
            <a:spAutoFit/>
          </a:bodyPr>
          <a:lstStyle/>
          <a:p>
            <a:pPr algn="l">
              <a:lnSpc>
                <a:spcPts val="7748"/>
              </a:lnSpc>
            </a:pPr>
            <a:r>
              <a:rPr lang="en-US" sz="6222" b="true">
                <a:solidFill>
                  <a:srgbClr val="2E3C4E"/>
                </a:solidFill>
                <a:latin typeface="Times New Roman MT Bold"/>
                <a:ea typeface="Times New Roman MT Bold"/>
                <a:cs typeface="Times New Roman MT Bold"/>
                <a:sym typeface="Times New Roman MT Bold"/>
              </a:rPr>
              <a:t>The Challenge: Information Overload in Healthcare</a:t>
            </a:r>
          </a:p>
        </p:txBody>
      </p:sp>
      <p:sp>
        <p:nvSpPr>
          <p:cNvPr name="TextBox 7" id="7"/>
          <p:cNvSpPr txBox="true"/>
          <p:nvPr/>
        </p:nvSpPr>
        <p:spPr>
          <a:xfrm rot="0">
            <a:off x="635050" y="3282363"/>
            <a:ext cx="4744450" cy="639912"/>
          </a:xfrm>
          <a:prstGeom prst="rect">
            <a:avLst/>
          </a:prstGeom>
        </p:spPr>
        <p:txBody>
          <a:bodyPr anchor="t" rtlCol="false" tIns="0" lIns="0" bIns="0" rIns="0">
            <a:spAutoFit/>
          </a:bodyPr>
          <a:lstStyle/>
          <a:p>
            <a:pPr algn="l">
              <a:lnSpc>
                <a:spcPts val="4578"/>
              </a:lnSpc>
            </a:pPr>
            <a:r>
              <a:rPr lang="en-US" sz="3639" b="true">
                <a:solidFill>
                  <a:srgbClr val="2E3C4E"/>
                </a:solidFill>
                <a:latin typeface="Times New Roman MT Bold"/>
                <a:ea typeface="Times New Roman MT Bold"/>
                <a:cs typeface="Times New Roman MT Bold"/>
                <a:sym typeface="Times New Roman MT Bold"/>
              </a:rPr>
              <a:t>The Problem</a:t>
            </a:r>
          </a:p>
        </p:txBody>
      </p:sp>
      <p:sp>
        <p:nvSpPr>
          <p:cNvPr name="TextBox 8" id="8"/>
          <p:cNvSpPr txBox="true"/>
          <p:nvPr/>
        </p:nvSpPr>
        <p:spPr>
          <a:xfrm rot="0">
            <a:off x="670502" y="4246125"/>
            <a:ext cx="16967093" cy="1751913"/>
          </a:xfrm>
          <a:prstGeom prst="rect">
            <a:avLst/>
          </a:prstGeom>
        </p:spPr>
        <p:txBody>
          <a:bodyPr anchor="t" rtlCol="false" tIns="0" lIns="0" bIns="0" rIns="0">
            <a:spAutoFit/>
          </a:bodyPr>
          <a:lstStyle/>
          <a:p>
            <a:pPr algn="l">
              <a:lnSpc>
                <a:spcPts val="4561"/>
              </a:lnSpc>
            </a:pPr>
            <a:r>
              <a:rPr lang="en-US" sz="2851">
                <a:solidFill>
                  <a:srgbClr val="384653"/>
                </a:solidFill>
                <a:latin typeface="Times New Roman MT"/>
                <a:ea typeface="Times New Roman MT"/>
                <a:cs typeface="Times New Roman MT"/>
                <a:sym typeface="Times New Roman MT"/>
              </a:rPr>
              <a:t>Medical reports are lengthy and complex, making them time-consuming for healthcare professionals to interpret. Critical information is often buried in dense technical language, delaying decision-making and patient care.</a:t>
            </a:r>
          </a:p>
        </p:txBody>
      </p:sp>
      <p:sp>
        <p:nvSpPr>
          <p:cNvPr name="TextBox 9" id="9"/>
          <p:cNvSpPr txBox="true"/>
          <p:nvPr/>
        </p:nvSpPr>
        <p:spPr>
          <a:xfrm rot="0">
            <a:off x="670502" y="6325938"/>
            <a:ext cx="16967093" cy="1173639"/>
          </a:xfrm>
          <a:prstGeom prst="rect">
            <a:avLst/>
          </a:prstGeom>
        </p:spPr>
        <p:txBody>
          <a:bodyPr anchor="t" rtlCol="false" tIns="0" lIns="0" bIns="0" rIns="0">
            <a:spAutoFit/>
          </a:bodyPr>
          <a:lstStyle/>
          <a:p>
            <a:pPr algn="l">
              <a:lnSpc>
                <a:spcPts val="4561"/>
              </a:lnSpc>
            </a:pPr>
            <a:r>
              <a:rPr lang="en-US" sz="2851">
                <a:solidFill>
                  <a:srgbClr val="384653"/>
                </a:solidFill>
                <a:latin typeface="Times New Roman MT"/>
                <a:ea typeface="Times New Roman MT"/>
                <a:cs typeface="Times New Roman MT"/>
                <a:sym typeface="Times New Roman MT"/>
              </a:rPr>
              <a:t>Our solution leverages artificial intelligence to automatically generate concise, accurate summaries that preserve essential details like diagnosis and treatment recommendations.</a:t>
            </a:r>
          </a:p>
        </p:txBody>
      </p:sp>
      <p:grpSp>
        <p:nvGrpSpPr>
          <p:cNvPr name="Group 10" id="10"/>
          <p:cNvGrpSpPr/>
          <p:nvPr/>
        </p:nvGrpSpPr>
        <p:grpSpPr>
          <a:xfrm rot="0">
            <a:off x="635050" y="10919966"/>
            <a:ext cx="5572423" cy="963066"/>
            <a:chOff x="0" y="0"/>
            <a:chExt cx="7429897" cy="1284088"/>
          </a:xfrm>
        </p:grpSpPr>
        <p:sp>
          <p:nvSpPr>
            <p:cNvPr name="Freeform 11" id="11"/>
            <p:cNvSpPr/>
            <p:nvPr/>
          </p:nvSpPr>
          <p:spPr>
            <a:xfrm flipH="false" flipV="false" rot="0">
              <a:off x="6350" y="6350"/>
              <a:ext cx="7417181" cy="1271397"/>
            </a:xfrm>
            <a:custGeom>
              <a:avLst/>
              <a:gdLst/>
              <a:ahLst/>
              <a:cxnLst/>
              <a:rect r="r" b="b" t="t" l="l"/>
              <a:pathLst>
                <a:path h="1271397" w="7417181">
                  <a:moveTo>
                    <a:pt x="0" y="319913"/>
                  </a:moveTo>
                  <a:cubicBezTo>
                    <a:pt x="0" y="143256"/>
                    <a:pt x="144399" y="0"/>
                    <a:pt x="322580" y="0"/>
                  </a:cubicBezTo>
                  <a:lnTo>
                    <a:pt x="7094601" y="0"/>
                  </a:lnTo>
                  <a:cubicBezTo>
                    <a:pt x="7272782" y="0"/>
                    <a:pt x="7417181" y="143256"/>
                    <a:pt x="7417181" y="319913"/>
                  </a:cubicBezTo>
                  <a:lnTo>
                    <a:pt x="7417181" y="951484"/>
                  </a:lnTo>
                  <a:cubicBezTo>
                    <a:pt x="7417181" y="1128141"/>
                    <a:pt x="7272782" y="1271397"/>
                    <a:pt x="7094601" y="1271397"/>
                  </a:cubicBezTo>
                  <a:lnTo>
                    <a:pt x="322580" y="1271397"/>
                  </a:lnTo>
                  <a:cubicBezTo>
                    <a:pt x="144399" y="1271397"/>
                    <a:pt x="0" y="1128141"/>
                    <a:pt x="0" y="951484"/>
                  </a:cubicBezTo>
                  <a:close/>
                </a:path>
              </a:pathLst>
            </a:custGeom>
            <a:solidFill>
              <a:srgbClr val="D4E9F7"/>
            </a:solidFill>
          </p:spPr>
        </p:sp>
        <p:sp>
          <p:nvSpPr>
            <p:cNvPr name="Freeform 12" id="12"/>
            <p:cNvSpPr/>
            <p:nvPr/>
          </p:nvSpPr>
          <p:spPr>
            <a:xfrm flipH="false" flipV="false" rot="0">
              <a:off x="0" y="0"/>
              <a:ext cx="7429881" cy="1284097"/>
            </a:xfrm>
            <a:custGeom>
              <a:avLst/>
              <a:gdLst/>
              <a:ahLst/>
              <a:cxnLst/>
              <a:rect r="r" b="b" t="t" l="l"/>
              <a:pathLst>
                <a:path h="1284097" w="7429881">
                  <a:moveTo>
                    <a:pt x="0" y="326263"/>
                  </a:moveTo>
                  <a:cubicBezTo>
                    <a:pt x="0" y="146050"/>
                    <a:pt x="147320" y="0"/>
                    <a:pt x="328930" y="0"/>
                  </a:cubicBezTo>
                  <a:lnTo>
                    <a:pt x="7100951" y="0"/>
                  </a:lnTo>
                  <a:lnTo>
                    <a:pt x="7100951" y="6350"/>
                  </a:lnTo>
                  <a:lnTo>
                    <a:pt x="7100951" y="0"/>
                  </a:lnTo>
                  <a:cubicBezTo>
                    <a:pt x="7282561" y="0"/>
                    <a:pt x="7429881" y="146050"/>
                    <a:pt x="7429881" y="326263"/>
                  </a:cubicBezTo>
                  <a:lnTo>
                    <a:pt x="7423531" y="326263"/>
                  </a:lnTo>
                  <a:lnTo>
                    <a:pt x="7429881" y="326263"/>
                  </a:lnTo>
                  <a:lnTo>
                    <a:pt x="7429881" y="957834"/>
                  </a:lnTo>
                  <a:lnTo>
                    <a:pt x="7423531" y="957834"/>
                  </a:lnTo>
                  <a:lnTo>
                    <a:pt x="7429881" y="957834"/>
                  </a:lnTo>
                  <a:cubicBezTo>
                    <a:pt x="7429881" y="1138047"/>
                    <a:pt x="7282561" y="1284097"/>
                    <a:pt x="7100951" y="1284097"/>
                  </a:cubicBezTo>
                  <a:lnTo>
                    <a:pt x="7100951" y="1277747"/>
                  </a:lnTo>
                  <a:lnTo>
                    <a:pt x="7100951" y="1284097"/>
                  </a:lnTo>
                  <a:lnTo>
                    <a:pt x="328930" y="1284097"/>
                  </a:lnTo>
                  <a:lnTo>
                    <a:pt x="328930" y="1277747"/>
                  </a:lnTo>
                  <a:lnTo>
                    <a:pt x="328930" y="1284097"/>
                  </a:lnTo>
                  <a:cubicBezTo>
                    <a:pt x="147320" y="1284097"/>
                    <a:pt x="0" y="1138047"/>
                    <a:pt x="0" y="957834"/>
                  </a:cubicBezTo>
                  <a:lnTo>
                    <a:pt x="0" y="326263"/>
                  </a:lnTo>
                  <a:lnTo>
                    <a:pt x="6350" y="326263"/>
                  </a:lnTo>
                  <a:lnTo>
                    <a:pt x="0" y="326263"/>
                  </a:lnTo>
                  <a:moveTo>
                    <a:pt x="12700" y="326263"/>
                  </a:moveTo>
                  <a:lnTo>
                    <a:pt x="12700" y="957834"/>
                  </a:lnTo>
                  <a:lnTo>
                    <a:pt x="6350" y="957834"/>
                  </a:lnTo>
                  <a:lnTo>
                    <a:pt x="12700" y="957834"/>
                  </a:lnTo>
                  <a:cubicBezTo>
                    <a:pt x="12700" y="1130935"/>
                    <a:pt x="154178" y="1271397"/>
                    <a:pt x="328930" y="1271397"/>
                  </a:cubicBezTo>
                  <a:lnTo>
                    <a:pt x="7100951" y="1271397"/>
                  </a:lnTo>
                  <a:cubicBezTo>
                    <a:pt x="7275703" y="1271397"/>
                    <a:pt x="7417181" y="1130935"/>
                    <a:pt x="7417181" y="957834"/>
                  </a:cubicBezTo>
                  <a:lnTo>
                    <a:pt x="7417181" y="326263"/>
                  </a:lnTo>
                  <a:cubicBezTo>
                    <a:pt x="7417181" y="153162"/>
                    <a:pt x="7275703" y="12700"/>
                    <a:pt x="7100951" y="12700"/>
                  </a:cubicBezTo>
                  <a:lnTo>
                    <a:pt x="328930" y="12700"/>
                  </a:lnTo>
                  <a:lnTo>
                    <a:pt x="328930" y="6350"/>
                  </a:lnTo>
                  <a:lnTo>
                    <a:pt x="328930" y="12700"/>
                  </a:lnTo>
                  <a:cubicBezTo>
                    <a:pt x="154178" y="12700"/>
                    <a:pt x="12700" y="153162"/>
                    <a:pt x="12700" y="326263"/>
                  </a:cubicBezTo>
                  <a:close/>
                </a:path>
              </a:pathLst>
            </a:custGeom>
            <a:solidFill>
              <a:srgbClr val="BACFDD"/>
            </a:solidFill>
          </p:spPr>
        </p:sp>
      </p:grpSp>
      <p:sp>
        <p:nvSpPr>
          <p:cNvPr name="TextBox 13" id="13"/>
          <p:cNvSpPr txBox="true"/>
          <p:nvPr/>
        </p:nvSpPr>
        <p:spPr>
          <a:xfrm rot="0">
            <a:off x="809179" y="11084570"/>
            <a:ext cx="2104728" cy="272504"/>
          </a:xfrm>
          <a:prstGeom prst="rect">
            <a:avLst/>
          </a:prstGeom>
        </p:spPr>
        <p:txBody>
          <a:bodyPr anchor="t" rtlCol="false" tIns="0" lIns="0" bIns="0" rIns="0">
            <a:spAutoFit/>
          </a:bodyPr>
          <a:lstStyle/>
          <a:p>
            <a:pPr algn="l">
              <a:lnSpc>
                <a:spcPts val="2062"/>
              </a:lnSpc>
            </a:pPr>
            <a:r>
              <a:rPr lang="en-US" sz="1625" b="true">
                <a:solidFill>
                  <a:srgbClr val="384653"/>
                </a:solidFill>
                <a:latin typeface="Barlow Bold"/>
                <a:ea typeface="Barlow Bold"/>
                <a:cs typeface="Barlow Bold"/>
                <a:sym typeface="Barlow Bold"/>
              </a:rPr>
              <a:t>Time-Consuming</a:t>
            </a:r>
          </a:p>
        </p:txBody>
      </p:sp>
      <p:sp>
        <p:nvSpPr>
          <p:cNvPr name="TextBox 14" id="14"/>
          <p:cNvSpPr txBox="true"/>
          <p:nvPr/>
        </p:nvSpPr>
        <p:spPr>
          <a:xfrm rot="0">
            <a:off x="809179" y="11405295"/>
            <a:ext cx="5224165" cy="303610"/>
          </a:xfrm>
          <a:prstGeom prst="rect">
            <a:avLst/>
          </a:prstGeom>
        </p:spPr>
        <p:txBody>
          <a:bodyPr anchor="t" rtlCol="false" tIns="0" lIns="0" bIns="0" rIns="0">
            <a:spAutoFit/>
          </a:bodyPr>
          <a:lstStyle/>
          <a:p>
            <a:pPr algn="l">
              <a:lnSpc>
                <a:spcPts val="2000"/>
              </a:lnSpc>
            </a:pPr>
            <a:r>
              <a:rPr lang="en-US" sz="1249">
                <a:solidFill>
                  <a:srgbClr val="384653"/>
                </a:solidFill>
                <a:latin typeface="Montserrat"/>
                <a:ea typeface="Montserrat"/>
                <a:cs typeface="Montserrat"/>
                <a:sym typeface="Montserrat"/>
              </a:rPr>
              <a:t>Hours spent reading lengthy reports</a:t>
            </a:r>
          </a:p>
        </p:txBody>
      </p:sp>
      <p:grpSp>
        <p:nvGrpSpPr>
          <p:cNvPr name="Group 15" id="15"/>
          <p:cNvGrpSpPr/>
          <p:nvPr/>
        </p:nvGrpSpPr>
        <p:grpSpPr>
          <a:xfrm rot="0">
            <a:off x="6357789" y="10919966"/>
            <a:ext cx="5572423" cy="963066"/>
            <a:chOff x="0" y="0"/>
            <a:chExt cx="7429897" cy="1284088"/>
          </a:xfrm>
        </p:grpSpPr>
        <p:sp>
          <p:nvSpPr>
            <p:cNvPr name="Freeform 16" id="16"/>
            <p:cNvSpPr/>
            <p:nvPr/>
          </p:nvSpPr>
          <p:spPr>
            <a:xfrm flipH="false" flipV="false" rot="0">
              <a:off x="6350" y="6350"/>
              <a:ext cx="7417181" cy="1271397"/>
            </a:xfrm>
            <a:custGeom>
              <a:avLst/>
              <a:gdLst/>
              <a:ahLst/>
              <a:cxnLst/>
              <a:rect r="r" b="b" t="t" l="l"/>
              <a:pathLst>
                <a:path h="1271397" w="7417181">
                  <a:moveTo>
                    <a:pt x="0" y="319913"/>
                  </a:moveTo>
                  <a:cubicBezTo>
                    <a:pt x="0" y="143256"/>
                    <a:pt x="144399" y="0"/>
                    <a:pt x="322580" y="0"/>
                  </a:cubicBezTo>
                  <a:lnTo>
                    <a:pt x="7094601" y="0"/>
                  </a:lnTo>
                  <a:cubicBezTo>
                    <a:pt x="7272782" y="0"/>
                    <a:pt x="7417181" y="143256"/>
                    <a:pt x="7417181" y="319913"/>
                  </a:cubicBezTo>
                  <a:lnTo>
                    <a:pt x="7417181" y="951484"/>
                  </a:lnTo>
                  <a:cubicBezTo>
                    <a:pt x="7417181" y="1128141"/>
                    <a:pt x="7272782" y="1271397"/>
                    <a:pt x="7094601" y="1271397"/>
                  </a:cubicBezTo>
                  <a:lnTo>
                    <a:pt x="322580" y="1271397"/>
                  </a:lnTo>
                  <a:cubicBezTo>
                    <a:pt x="144399" y="1271397"/>
                    <a:pt x="0" y="1128141"/>
                    <a:pt x="0" y="951484"/>
                  </a:cubicBezTo>
                  <a:close/>
                </a:path>
              </a:pathLst>
            </a:custGeom>
            <a:solidFill>
              <a:srgbClr val="D4E9F7"/>
            </a:solidFill>
          </p:spPr>
        </p:sp>
        <p:sp>
          <p:nvSpPr>
            <p:cNvPr name="Freeform 17" id="17"/>
            <p:cNvSpPr/>
            <p:nvPr/>
          </p:nvSpPr>
          <p:spPr>
            <a:xfrm flipH="false" flipV="false" rot="0">
              <a:off x="0" y="0"/>
              <a:ext cx="7429881" cy="1284097"/>
            </a:xfrm>
            <a:custGeom>
              <a:avLst/>
              <a:gdLst/>
              <a:ahLst/>
              <a:cxnLst/>
              <a:rect r="r" b="b" t="t" l="l"/>
              <a:pathLst>
                <a:path h="1284097" w="7429881">
                  <a:moveTo>
                    <a:pt x="0" y="326263"/>
                  </a:moveTo>
                  <a:cubicBezTo>
                    <a:pt x="0" y="146050"/>
                    <a:pt x="147320" y="0"/>
                    <a:pt x="328930" y="0"/>
                  </a:cubicBezTo>
                  <a:lnTo>
                    <a:pt x="7100951" y="0"/>
                  </a:lnTo>
                  <a:lnTo>
                    <a:pt x="7100951" y="6350"/>
                  </a:lnTo>
                  <a:lnTo>
                    <a:pt x="7100951" y="0"/>
                  </a:lnTo>
                  <a:cubicBezTo>
                    <a:pt x="7282561" y="0"/>
                    <a:pt x="7429881" y="146050"/>
                    <a:pt x="7429881" y="326263"/>
                  </a:cubicBezTo>
                  <a:lnTo>
                    <a:pt x="7423531" y="326263"/>
                  </a:lnTo>
                  <a:lnTo>
                    <a:pt x="7429881" y="326263"/>
                  </a:lnTo>
                  <a:lnTo>
                    <a:pt x="7429881" y="957834"/>
                  </a:lnTo>
                  <a:lnTo>
                    <a:pt x="7423531" y="957834"/>
                  </a:lnTo>
                  <a:lnTo>
                    <a:pt x="7429881" y="957834"/>
                  </a:lnTo>
                  <a:cubicBezTo>
                    <a:pt x="7429881" y="1138047"/>
                    <a:pt x="7282561" y="1284097"/>
                    <a:pt x="7100951" y="1284097"/>
                  </a:cubicBezTo>
                  <a:lnTo>
                    <a:pt x="7100951" y="1277747"/>
                  </a:lnTo>
                  <a:lnTo>
                    <a:pt x="7100951" y="1284097"/>
                  </a:lnTo>
                  <a:lnTo>
                    <a:pt x="328930" y="1284097"/>
                  </a:lnTo>
                  <a:lnTo>
                    <a:pt x="328930" y="1277747"/>
                  </a:lnTo>
                  <a:lnTo>
                    <a:pt x="328930" y="1284097"/>
                  </a:lnTo>
                  <a:cubicBezTo>
                    <a:pt x="147320" y="1284097"/>
                    <a:pt x="0" y="1138047"/>
                    <a:pt x="0" y="957834"/>
                  </a:cubicBezTo>
                  <a:lnTo>
                    <a:pt x="0" y="326263"/>
                  </a:lnTo>
                  <a:lnTo>
                    <a:pt x="6350" y="326263"/>
                  </a:lnTo>
                  <a:lnTo>
                    <a:pt x="0" y="326263"/>
                  </a:lnTo>
                  <a:moveTo>
                    <a:pt x="12700" y="326263"/>
                  </a:moveTo>
                  <a:lnTo>
                    <a:pt x="12700" y="957834"/>
                  </a:lnTo>
                  <a:lnTo>
                    <a:pt x="6350" y="957834"/>
                  </a:lnTo>
                  <a:lnTo>
                    <a:pt x="12700" y="957834"/>
                  </a:lnTo>
                  <a:cubicBezTo>
                    <a:pt x="12700" y="1130935"/>
                    <a:pt x="154178" y="1271397"/>
                    <a:pt x="328930" y="1271397"/>
                  </a:cubicBezTo>
                  <a:lnTo>
                    <a:pt x="7100951" y="1271397"/>
                  </a:lnTo>
                  <a:cubicBezTo>
                    <a:pt x="7275703" y="1271397"/>
                    <a:pt x="7417181" y="1130935"/>
                    <a:pt x="7417181" y="957834"/>
                  </a:cubicBezTo>
                  <a:lnTo>
                    <a:pt x="7417181" y="326263"/>
                  </a:lnTo>
                  <a:cubicBezTo>
                    <a:pt x="7417181" y="153162"/>
                    <a:pt x="7275703" y="12700"/>
                    <a:pt x="7100951" y="12700"/>
                  </a:cubicBezTo>
                  <a:lnTo>
                    <a:pt x="328930" y="12700"/>
                  </a:lnTo>
                  <a:lnTo>
                    <a:pt x="328930" y="6350"/>
                  </a:lnTo>
                  <a:lnTo>
                    <a:pt x="328930" y="12700"/>
                  </a:lnTo>
                  <a:cubicBezTo>
                    <a:pt x="154178" y="12700"/>
                    <a:pt x="12700" y="153162"/>
                    <a:pt x="12700" y="326263"/>
                  </a:cubicBezTo>
                  <a:close/>
                </a:path>
              </a:pathLst>
            </a:custGeom>
            <a:solidFill>
              <a:srgbClr val="BACFDD"/>
            </a:solidFill>
          </p:spPr>
        </p:sp>
      </p:grpSp>
      <p:sp>
        <p:nvSpPr>
          <p:cNvPr name="TextBox 18" id="18"/>
          <p:cNvSpPr txBox="true"/>
          <p:nvPr/>
        </p:nvSpPr>
        <p:spPr>
          <a:xfrm rot="0">
            <a:off x="6531917" y="11084570"/>
            <a:ext cx="2104727" cy="272504"/>
          </a:xfrm>
          <a:prstGeom prst="rect">
            <a:avLst/>
          </a:prstGeom>
        </p:spPr>
        <p:txBody>
          <a:bodyPr anchor="t" rtlCol="false" tIns="0" lIns="0" bIns="0" rIns="0">
            <a:spAutoFit/>
          </a:bodyPr>
          <a:lstStyle/>
          <a:p>
            <a:pPr algn="l">
              <a:lnSpc>
                <a:spcPts val="2062"/>
              </a:lnSpc>
            </a:pPr>
            <a:r>
              <a:rPr lang="en-US" sz="1625" b="true">
                <a:solidFill>
                  <a:srgbClr val="384653"/>
                </a:solidFill>
                <a:latin typeface="Barlow Bold"/>
                <a:ea typeface="Barlow Bold"/>
                <a:cs typeface="Barlow Bold"/>
                <a:sym typeface="Barlow Bold"/>
              </a:rPr>
              <a:t>Complex Language</a:t>
            </a:r>
          </a:p>
        </p:txBody>
      </p:sp>
      <p:sp>
        <p:nvSpPr>
          <p:cNvPr name="TextBox 19" id="19"/>
          <p:cNvSpPr txBox="true"/>
          <p:nvPr/>
        </p:nvSpPr>
        <p:spPr>
          <a:xfrm rot="0">
            <a:off x="6531917" y="11405295"/>
            <a:ext cx="5224165" cy="303610"/>
          </a:xfrm>
          <a:prstGeom prst="rect">
            <a:avLst/>
          </a:prstGeom>
        </p:spPr>
        <p:txBody>
          <a:bodyPr anchor="t" rtlCol="false" tIns="0" lIns="0" bIns="0" rIns="0">
            <a:spAutoFit/>
          </a:bodyPr>
          <a:lstStyle/>
          <a:p>
            <a:pPr algn="l">
              <a:lnSpc>
                <a:spcPts val="2000"/>
              </a:lnSpc>
            </a:pPr>
            <a:r>
              <a:rPr lang="en-US" sz="1249">
                <a:solidFill>
                  <a:srgbClr val="384653"/>
                </a:solidFill>
                <a:latin typeface="Montserrat"/>
                <a:ea typeface="Montserrat"/>
                <a:cs typeface="Montserrat"/>
                <a:sym typeface="Montserrat"/>
              </a:rPr>
              <a:t>Dense medical terminology</a:t>
            </a:r>
          </a:p>
        </p:txBody>
      </p:sp>
      <p:grpSp>
        <p:nvGrpSpPr>
          <p:cNvPr name="Group 20" id="20"/>
          <p:cNvGrpSpPr/>
          <p:nvPr/>
        </p:nvGrpSpPr>
        <p:grpSpPr>
          <a:xfrm rot="0">
            <a:off x="12080528" y="10919966"/>
            <a:ext cx="5572423" cy="963066"/>
            <a:chOff x="0" y="0"/>
            <a:chExt cx="7429897" cy="1284088"/>
          </a:xfrm>
        </p:grpSpPr>
        <p:sp>
          <p:nvSpPr>
            <p:cNvPr name="Freeform 21" id="21"/>
            <p:cNvSpPr/>
            <p:nvPr/>
          </p:nvSpPr>
          <p:spPr>
            <a:xfrm flipH="false" flipV="false" rot="0">
              <a:off x="6350" y="6350"/>
              <a:ext cx="7417181" cy="1271397"/>
            </a:xfrm>
            <a:custGeom>
              <a:avLst/>
              <a:gdLst/>
              <a:ahLst/>
              <a:cxnLst/>
              <a:rect r="r" b="b" t="t" l="l"/>
              <a:pathLst>
                <a:path h="1271397" w="7417181">
                  <a:moveTo>
                    <a:pt x="0" y="319913"/>
                  </a:moveTo>
                  <a:cubicBezTo>
                    <a:pt x="0" y="143256"/>
                    <a:pt x="144399" y="0"/>
                    <a:pt x="322580" y="0"/>
                  </a:cubicBezTo>
                  <a:lnTo>
                    <a:pt x="7094601" y="0"/>
                  </a:lnTo>
                  <a:cubicBezTo>
                    <a:pt x="7272782" y="0"/>
                    <a:pt x="7417181" y="143256"/>
                    <a:pt x="7417181" y="319913"/>
                  </a:cubicBezTo>
                  <a:lnTo>
                    <a:pt x="7417181" y="951484"/>
                  </a:lnTo>
                  <a:cubicBezTo>
                    <a:pt x="7417181" y="1128141"/>
                    <a:pt x="7272782" y="1271397"/>
                    <a:pt x="7094601" y="1271397"/>
                  </a:cubicBezTo>
                  <a:lnTo>
                    <a:pt x="322580" y="1271397"/>
                  </a:lnTo>
                  <a:cubicBezTo>
                    <a:pt x="144399" y="1271397"/>
                    <a:pt x="0" y="1128141"/>
                    <a:pt x="0" y="951484"/>
                  </a:cubicBezTo>
                  <a:close/>
                </a:path>
              </a:pathLst>
            </a:custGeom>
            <a:solidFill>
              <a:srgbClr val="D4E9F7"/>
            </a:solidFill>
          </p:spPr>
        </p:sp>
        <p:sp>
          <p:nvSpPr>
            <p:cNvPr name="Freeform 22" id="22"/>
            <p:cNvSpPr/>
            <p:nvPr/>
          </p:nvSpPr>
          <p:spPr>
            <a:xfrm flipH="false" flipV="false" rot="0">
              <a:off x="0" y="0"/>
              <a:ext cx="7429881" cy="1284097"/>
            </a:xfrm>
            <a:custGeom>
              <a:avLst/>
              <a:gdLst/>
              <a:ahLst/>
              <a:cxnLst/>
              <a:rect r="r" b="b" t="t" l="l"/>
              <a:pathLst>
                <a:path h="1284097" w="7429881">
                  <a:moveTo>
                    <a:pt x="0" y="326263"/>
                  </a:moveTo>
                  <a:cubicBezTo>
                    <a:pt x="0" y="146050"/>
                    <a:pt x="147320" y="0"/>
                    <a:pt x="328930" y="0"/>
                  </a:cubicBezTo>
                  <a:lnTo>
                    <a:pt x="7100951" y="0"/>
                  </a:lnTo>
                  <a:lnTo>
                    <a:pt x="7100951" y="6350"/>
                  </a:lnTo>
                  <a:lnTo>
                    <a:pt x="7100951" y="0"/>
                  </a:lnTo>
                  <a:cubicBezTo>
                    <a:pt x="7282561" y="0"/>
                    <a:pt x="7429881" y="146050"/>
                    <a:pt x="7429881" y="326263"/>
                  </a:cubicBezTo>
                  <a:lnTo>
                    <a:pt x="7423531" y="326263"/>
                  </a:lnTo>
                  <a:lnTo>
                    <a:pt x="7429881" y="326263"/>
                  </a:lnTo>
                  <a:lnTo>
                    <a:pt x="7429881" y="957834"/>
                  </a:lnTo>
                  <a:lnTo>
                    <a:pt x="7423531" y="957834"/>
                  </a:lnTo>
                  <a:lnTo>
                    <a:pt x="7429881" y="957834"/>
                  </a:lnTo>
                  <a:cubicBezTo>
                    <a:pt x="7429881" y="1138047"/>
                    <a:pt x="7282561" y="1284097"/>
                    <a:pt x="7100951" y="1284097"/>
                  </a:cubicBezTo>
                  <a:lnTo>
                    <a:pt x="7100951" y="1277747"/>
                  </a:lnTo>
                  <a:lnTo>
                    <a:pt x="7100951" y="1284097"/>
                  </a:lnTo>
                  <a:lnTo>
                    <a:pt x="328930" y="1284097"/>
                  </a:lnTo>
                  <a:lnTo>
                    <a:pt x="328930" y="1277747"/>
                  </a:lnTo>
                  <a:lnTo>
                    <a:pt x="328930" y="1284097"/>
                  </a:lnTo>
                  <a:cubicBezTo>
                    <a:pt x="147320" y="1284097"/>
                    <a:pt x="0" y="1138047"/>
                    <a:pt x="0" y="957834"/>
                  </a:cubicBezTo>
                  <a:lnTo>
                    <a:pt x="0" y="326263"/>
                  </a:lnTo>
                  <a:lnTo>
                    <a:pt x="6350" y="326263"/>
                  </a:lnTo>
                  <a:lnTo>
                    <a:pt x="0" y="326263"/>
                  </a:lnTo>
                  <a:moveTo>
                    <a:pt x="12700" y="326263"/>
                  </a:moveTo>
                  <a:lnTo>
                    <a:pt x="12700" y="957834"/>
                  </a:lnTo>
                  <a:lnTo>
                    <a:pt x="6350" y="957834"/>
                  </a:lnTo>
                  <a:lnTo>
                    <a:pt x="12700" y="957834"/>
                  </a:lnTo>
                  <a:cubicBezTo>
                    <a:pt x="12700" y="1130935"/>
                    <a:pt x="154178" y="1271397"/>
                    <a:pt x="328930" y="1271397"/>
                  </a:cubicBezTo>
                  <a:lnTo>
                    <a:pt x="7100951" y="1271397"/>
                  </a:lnTo>
                  <a:cubicBezTo>
                    <a:pt x="7275703" y="1271397"/>
                    <a:pt x="7417181" y="1130935"/>
                    <a:pt x="7417181" y="957834"/>
                  </a:cubicBezTo>
                  <a:lnTo>
                    <a:pt x="7417181" y="326263"/>
                  </a:lnTo>
                  <a:cubicBezTo>
                    <a:pt x="7417181" y="153162"/>
                    <a:pt x="7275703" y="12700"/>
                    <a:pt x="7100951" y="12700"/>
                  </a:cubicBezTo>
                  <a:lnTo>
                    <a:pt x="328930" y="12700"/>
                  </a:lnTo>
                  <a:lnTo>
                    <a:pt x="328930" y="6350"/>
                  </a:lnTo>
                  <a:lnTo>
                    <a:pt x="328930" y="12700"/>
                  </a:lnTo>
                  <a:cubicBezTo>
                    <a:pt x="154178" y="12700"/>
                    <a:pt x="12700" y="153162"/>
                    <a:pt x="12700" y="326263"/>
                  </a:cubicBezTo>
                  <a:close/>
                </a:path>
              </a:pathLst>
            </a:custGeom>
            <a:solidFill>
              <a:srgbClr val="BACFDD"/>
            </a:solidFill>
          </p:spPr>
        </p:sp>
      </p:grpSp>
      <p:sp>
        <p:nvSpPr>
          <p:cNvPr name="TextBox 23" id="23"/>
          <p:cNvSpPr txBox="true"/>
          <p:nvPr/>
        </p:nvSpPr>
        <p:spPr>
          <a:xfrm rot="0">
            <a:off x="12254656" y="11084570"/>
            <a:ext cx="2104727" cy="272504"/>
          </a:xfrm>
          <a:prstGeom prst="rect">
            <a:avLst/>
          </a:prstGeom>
        </p:spPr>
        <p:txBody>
          <a:bodyPr anchor="t" rtlCol="false" tIns="0" lIns="0" bIns="0" rIns="0">
            <a:spAutoFit/>
          </a:bodyPr>
          <a:lstStyle/>
          <a:p>
            <a:pPr algn="l">
              <a:lnSpc>
                <a:spcPts val="2062"/>
              </a:lnSpc>
            </a:pPr>
            <a:r>
              <a:rPr lang="en-US" sz="1625" b="true">
                <a:solidFill>
                  <a:srgbClr val="384653"/>
                </a:solidFill>
                <a:latin typeface="Barlow Bold"/>
                <a:ea typeface="Barlow Bold"/>
                <a:cs typeface="Barlow Bold"/>
                <a:sym typeface="Barlow Bold"/>
              </a:rPr>
              <a:t>Critical Details</a:t>
            </a:r>
          </a:p>
        </p:txBody>
      </p:sp>
      <p:sp>
        <p:nvSpPr>
          <p:cNvPr name="TextBox 24" id="24"/>
          <p:cNvSpPr txBox="true"/>
          <p:nvPr/>
        </p:nvSpPr>
        <p:spPr>
          <a:xfrm rot="0">
            <a:off x="12254656" y="11405295"/>
            <a:ext cx="5224165" cy="303610"/>
          </a:xfrm>
          <a:prstGeom prst="rect">
            <a:avLst/>
          </a:prstGeom>
        </p:spPr>
        <p:txBody>
          <a:bodyPr anchor="t" rtlCol="false" tIns="0" lIns="0" bIns="0" rIns="0">
            <a:spAutoFit/>
          </a:bodyPr>
          <a:lstStyle/>
          <a:p>
            <a:pPr algn="l">
              <a:lnSpc>
                <a:spcPts val="2000"/>
              </a:lnSpc>
            </a:pPr>
            <a:r>
              <a:rPr lang="en-US" sz="1249">
                <a:solidFill>
                  <a:srgbClr val="384653"/>
                </a:solidFill>
                <a:latin typeface="Montserrat"/>
                <a:ea typeface="Montserrat"/>
                <a:cs typeface="Montserrat"/>
                <a:sym typeface="Montserrat"/>
              </a:rPr>
              <a:t>Key information hard to locate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2461513"/>
            <a:ext cx="18288000" cy="7825487"/>
            <a:chOff x="0" y="0"/>
            <a:chExt cx="24384000" cy="10433983"/>
          </a:xfrm>
        </p:grpSpPr>
        <p:sp>
          <p:nvSpPr>
            <p:cNvPr name="Freeform 5" id="5"/>
            <p:cNvSpPr/>
            <p:nvPr/>
          </p:nvSpPr>
          <p:spPr>
            <a:xfrm flipH="false" flipV="false" rot="0">
              <a:off x="0" y="0"/>
              <a:ext cx="24384000" cy="10433983"/>
            </a:xfrm>
            <a:custGeom>
              <a:avLst/>
              <a:gdLst/>
              <a:ahLst/>
              <a:cxnLst/>
              <a:rect r="r" b="b" t="t" l="l"/>
              <a:pathLst>
                <a:path h="10433983" w="24384000">
                  <a:moveTo>
                    <a:pt x="0" y="0"/>
                  </a:moveTo>
                  <a:lnTo>
                    <a:pt x="24384000" y="0"/>
                  </a:lnTo>
                  <a:lnTo>
                    <a:pt x="24384000" y="10433983"/>
                  </a:lnTo>
                  <a:lnTo>
                    <a:pt x="0" y="10433983"/>
                  </a:lnTo>
                  <a:close/>
                </a:path>
              </a:pathLst>
            </a:custGeom>
            <a:solidFill>
              <a:srgbClr val="FFFFFF"/>
            </a:solidFill>
          </p:spPr>
        </p:sp>
      </p:grpSp>
      <p:sp>
        <p:nvSpPr>
          <p:cNvPr name="TextBox 6" id="6"/>
          <p:cNvSpPr txBox="true"/>
          <p:nvPr/>
        </p:nvSpPr>
        <p:spPr>
          <a:xfrm rot="0">
            <a:off x="947886" y="2986236"/>
            <a:ext cx="12171610" cy="777875"/>
          </a:xfrm>
          <a:prstGeom prst="rect">
            <a:avLst/>
          </a:prstGeom>
        </p:spPr>
        <p:txBody>
          <a:bodyPr anchor="t" rtlCol="false" tIns="0" lIns="0" bIns="0" rIns="0">
            <a:spAutoFit/>
          </a:bodyPr>
          <a:lstStyle/>
          <a:p>
            <a:pPr algn="l">
              <a:lnSpc>
                <a:spcPts val="5500"/>
              </a:lnSpc>
            </a:pPr>
            <a:r>
              <a:rPr lang="en-US" sz="4375" b="true">
                <a:solidFill>
                  <a:srgbClr val="2E3C4E"/>
                </a:solidFill>
                <a:latin typeface="Times New Roman MT Bold"/>
                <a:ea typeface="Times New Roman MT Bold"/>
                <a:cs typeface="Times New Roman MT Bold"/>
                <a:sym typeface="Times New Roman MT Bold"/>
              </a:rPr>
              <a:t>Our Approach: Custom Transformer Architecture</a:t>
            </a:r>
          </a:p>
        </p:txBody>
      </p:sp>
      <p:sp>
        <p:nvSpPr>
          <p:cNvPr name="TextBox 7" id="7"/>
          <p:cNvSpPr txBox="true"/>
          <p:nvPr/>
        </p:nvSpPr>
        <p:spPr>
          <a:xfrm rot="0">
            <a:off x="947886" y="4046885"/>
            <a:ext cx="16392228" cy="911323"/>
          </a:xfrm>
          <a:prstGeom prst="rect">
            <a:avLst/>
          </a:prstGeom>
        </p:spPr>
        <p:txBody>
          <a:bodyPr anchor="t" rtlCol="false" tIns="0" lIns="0" bIns="0" rIns="0">
            <a:spAutoFit/>
          </a:bodyPr>
          <a:lstStyle/>
          <a:p>
            <a:pPr algn="l">
              <a:lnSpc>
                <a:spcPts val="3594"/>
              </a:lnSpc>
            </a:pPr>
            <a:r>
              <a:rPr lang="en-US" sz="2224">
                <a:solidFill>
                  <a:srgbClr val="384653"/>
                </a:solidFill>
                <a:latin typeface="Times New Roman MT"/>
                <a:ea typeface="Times New Roman MT"/>
                <a:cs typeface="Times New Roman MT"/>
                <a:sym typeface="Times New Roman MT"/>
              </a:rPr>
              <a:t>We developed an abstractive summarization system using Transformer architecture built from scratch in PyTorch. This educational approach demonstrates core understanding of attention mechanisms and sequence-to-sequence modeling.</a:t>
            </a:r>
          </a:p>
        </p:txBody>
      </p:sp>
      <p:grpSp>
        <p:nvGrpSpPr>
          <p:cNvPr name="Group 8" id="8"/>
          <p:cNvGrpSpPr>
            <a:grpSpLocks noChangeAspect="true"/>
          </p:cNvGrpSpPr>
          <p:nvPr/>
        </p:nvGrpSpPr>
        <p:grpSpPr>
          <a:xfrm rot="0">
            <a:off x="947886" y="5348734"/>
            <a:ext cx="8196114" cy="853083"/>
            <a:chOff x="0" y="0"/>
            <a:chExt cx="10928152" cy="1137443"/>
          </a:xfrm>
        </p:grpSpPr>
        <p:sp>
          <p:nvSpPr>
            <p:cNvPr name="Freeform 9" id="9" descr="preencoded.png"/>
            <p:cNvSpPr/>
            <p:nvPr/>
          </p:nvSpPr>
          <p:spPr>
            <a:xfrm flipH="false" flipV="false" rot="0">
              <a:off x="0" y="0"/>
              <a:ext cx="10928096" cy="1137412"/>
            </a:xfrm>
            <a:custGeom>
              <a:avLst/>
              <a:gdLst/>
              <a:ahLst/>
              <a:cxnLst/>
              <a:rect r="r" b="b" t="t" l="l"/>
              <a:pathLst>
                <a:path h="1137412" w="10928096">
                  <a:moveTo>
                    <a:pt x="0" y="0"/>
                  </a:moveTo>
                  <a:lnTo>
                    <a:pt x="10928096" y="0"/>
                  </a:lnTo>
                  <a:lnTo>
                    <a:pt x="10928096" y="1137412"/>
                  </a:lnTo>
                  <a:lnTo>
                    <a:pt x="0" y="1137412"/>
                  </a:lnTo>
                  <a:lnTo>
                    <a:pt x="0" y="0"/>
                  </a:lnTo>
                  <a:close/>
                </a:path>
              </a:pathLst>
            </a:custGeom>
            <a:blipFill>
              <a:blip r:embed="rId4"/>
              <a:stretch>
                <a:fillRect l="0" t="-272" r="0" b="-275"/>
              </a:stretch>
            </a:blipFill>
          </p:spPr>
        </p:sp>
      </p:grpSp>
      <p:sp>
        <p:nvSpPr>
          <p:cNvPr name="TextBox 10" id="10"/>
          <p:cNvSpPr txBox="true"/>
          <p:nvPr/>
        </p:nvSpPr>
        <p:spPr>
          <a:xfrm rot="0">
            <a:off x="1161157" y="6348413"/>
            <a:ext cx="2806154" cy="457472"/>
          </a:xfrm>
          <a:prstGeom prst="rect">
            <a:avLst/>
          </a:prstGeom>
        </p:spPr>
        <p:txBody>
          <a:bodyPr anchor="t" rtlCol="false" tIns="0" lIns="0" bIns="0" rIns="0">
            <a:spAutoFit/>
          </a:bodyPr>
          <a:lstStyle/>
          <a:p>
            <a:pPr algn="l">
              <a:lnSpc>
                <a:spcPts val="3252"/>
              </a:lnSpc>
            </a:pPr>
            <a:r>
              <a:rPr lang="en-US" sz="2587" b="true">
                <a:solidFill>
                  <a:srgbClr val="384653"/>
                </a:solidFill>
                <a:latin typeface="Times New Roman MT Bold"/>
                <a:ea typeface="Times New Roman MT Bold"/>
                <a:cs typeface="Times New Roman MT Bold"/>
                <a:sym typeface="Times New Roman MT Bold"/>
              </a:rPr>
              <a:t>Data Preprocessing</a:t>
            </a:r>
          </a:p>
        </p:txBody>
      </p:sp>
      <p:sp>
        <p:nvSpPr>
          <p:cNvPr name="TextBox 11" id="11"/>
          <p:cNvSpPr txBox="true"/>
          <p:nvPr/>
        </p:nvSpPr>
        <p:spPr>
          <a:xfrm rot="0">
            <a:off x="1161158" y="6769894"/>
            <a:ext cx="7769572" cy="426574"/>
          </a:xfrm>
          <a:prstGeom prst="rect">
            <a:avLst/>
          </a:prstGeom>
        </p:spPr>
        <p:txBody>
          <a:bodyPr anchor="t" rtlCol="false" tIns="0" lIns="0" bIns="0" rIns="0">
            <a:spAutoFit/>
          </a:bodyPr>
          <a:lstStyle/>
          <a:p>
            <a:pPr algn="l">
              <a:lnSpc>
                <a:spcPts val="3271"/>
              </a:lnSpc>
            </a:pPr>
            <a:r>
              <a:rPr lang="en-US" sz="2024">
                <a:solidFill>
                  <a:srgbClr val="384653"/>
                </a:solidFill>
                <a:latin typeface="Times New Roman MT"/>
                <a:ea typeface="Times New Roman MT"/>
                <a:cs typeface="Times New Roman MT"/>
                <a:sym typeface="Times New Roman MT"/>
              </a:rPr>
              <a:t>Cleaning and formatting medical text from mtsamples dataset</a:t>
            </a:r>
          </a:p>
        </p:txBody>
      </p:sp>
      <p:grpSp>
        <p:nvGrpSpPr>
          <p:cNvPr name="Group 12" id="12"/>
          <p:cNvGrpSpPr>
            <a:grpSpLocks noChangeAspect="true"/>
          </p:cNvGrpSpPr>
          <p:nvPr/>
        </p:nvGrpSpPr>
        <p:grpSpPr>
          <a:xfrm rot="0">
            <a:off x="9144000" y="5348734"/>
            <a:ext cx="8196114" cy="853083"/>
            <a:chOff x="0" y="0"/>
            <a:chExt cx="10928152" cy="1137443"/>
          </a:xfrm>
        </p:grpSpPr>
        <p:sp>
          <p:nvSpPr>
            <p:cNvPr name="Freeform 13" id="13" descr="preencoded.png"/>
            <p:cNvSpPr/>
            <p:nvPr/>
          </p:nvSpPr>
          <p:spPr>
            <a:xfrm flipH="false" flipV="false" rot="0">
              <a:off x="0" y="0"/>
              <a:ext cx="10928096" cy="1137412"/>
            </a:xfrm>
            <a:custGeom>
              <a:avLst/>
              <a:gdLst/>
              <a:ahLst/>
              <a:cxnLst/>
              <a:rect r="r" b="b" t="t" l="l"/>
              <a:pathLst>
                <a:path h="1137412" w="10928096">
                  <a:moveTo>
                    <a:pt x="0" y="0"/>
                  </a:moveTo>
                  <a:lnTo>
                    <a:pt x="10928096" y="0"/>
                  </a:lnTo>
                  <a:lnTo>
                    <a:pt x="10928096" y="1137412"/>
                  </a:lnTo>
                  <a:lnTo>
                    <a:pt x="0" y="1137412"/>
                  </a:lnTo>
                  <a:lnTo>
                    <a:pt x="0" y="0"/>
                  </a:lnTo>
                  <a:close/>
                </a:path>
              </a:pathLst>
            </a:custGeom>
            <a:blipFill>
              <a:blip r:embed="rId5"/>
              <a:stretch>
                <a:fillRect l="0" t="-272" r="0" b="-275"/>
              </a:stretch>
            </a:blipFill>
          </p:spPr>
        </p:sp>
      </p:grpSp>
      <p:sp>
        <p:nvSpPr>
          <p:cNvPr name="TextBox 14" id="14"/>
          <p:cNvSpPr txBox="true"/>
          <p:nvPr/>
        </p:nvSpPr>
        <p:spPr>
          <a:xfrm rot="0">
            <a:off x="9357271" y="6348413"/>
            <a:ext cx="2806154" cy="457472"/>
          </a:xfrm>
          <a:prstGeom prst="rect">
            <a:avLst/>
          </a:prstGeom>
        </p:spPr>
        <p:txBody>
          <a:bodyPr anchor="t" rtlCol="false" tIns="0" lIns="0" bIns="0" rIns="0">
            <a:spAutoFit/>
          </a:bodyPr>
          <a:lstStyle/>
          <a:p>
            <a:pPr algn="l">
              <a:lnSpc>
                <a:spcPts val="3252"/>
              </a:lnSpc>
            </a:pPr>
            <a:r>
              <a:rPr lang="en-US" sz="2587" b="true">
                <a:solidFill>
                  <a:srgbClr val="384653"/>
                </a:solidFill>
                <a:latin typeface="Times New Roman MT Bold"/>
                <a:ea typeface="Times New Roman MT Bold"/>
                <a:cs typeface="Times New Roman MT Bold"/>
                <a:sym typeface="Times New Roman MT Bold"/>
              </a:rPr>
              <a:t>Model Training</a:t>
            </a:r>
          </a:p>
        </p:txBody>
      </p:sp>
      <p:sp>
        <p:nvSpPr>
          <p:cNvPr name="TextBox 15" id="15"/>
          <p:cNvSpPr txBox="true"/>
          <p:nvPr/>
        </p:nvSpPr>
        <p:spPr>
          <a:xfrm rot="0">
            <a:off x="9357271" y="6769894"/>
            <a:ext cx="7769572" cy="426574"/>
          </a:xfrm>
          <a:prstGeom prst="rect">
            <a:avLst/>
          </a:prstGeom>
        </p:spPr>
        <p:txBody>
          <a:bodyPr anchor="t" rtlCol="false" tIns="0" lIns="0" bIns="0" rIns="0">
            <a:spAutoFit/>
          </a:bodyPr>
          <a:lstStyle/>
          <a:p>
            <a:pPr algn="l">
              <a:lnSpc>
                <a:spcPts val="3271"/>
              </a:lnSpc>
            </a:pPr>
            <a:r>
              <a:rPr lang="en-US" sz="2024">
                <a:solidFill>
                  <a:srgbClr val="384653"/>
                </a:solidFill>
                <a:latin typeface="Times New Roman MT"/>
                <a:ea typeface="Times New Roman MT"/>
                <a:cs typeface="Times New Roman MT"/>
                <a:sym typeface="Times New Roman MT"/>
              </a:rPr>
              <a:t>Fine-tuning on ~5000 medical samples</a:t>
            </a:r>
          </a:p>
        </p:txBody>
      </p:sp>
      <p:grpSp>
        <p:nvGrpSpPr>
          <p:cNvPr name="Group 16" id="16"/>
          <p:cNvGrpSpPr>
            <a:grpSpLocks noChangeAspect="true"/>
          </p:cNvGrpSpPr>
          <p:nvPr/>
        </p:nvGrpSpPr>
        <p:grpSpPr>
          <a:xfrm rot="0">
            <a:off x="947886" y="7448104"/>
            <a:ext cx="8196114" cy="853083"/>
            <a:chOff x="0" y="0"/>
            <a:chExt cx="10928152" cy="1137443"/>
          </a:xfrm>
        </p:grpSpPr>
        <p:sp>
          <p:nvSpPr>
            <p:cNvPr name="Freeform 17" id="17" descr="preencoded.png"/>
            <p:cNvSpPr/>
            <p:nvPr/>
          </p:nvSpPr>
          <p:spPr>
            <a:xfrm flipH="false" flipV="false" rot="0">
              <a:off x="0" y="0"/>
              <a:ext cx="10928096" cy="1137412"/>
            </a:xfrm>
            <a:custGeom>
              <a:avLst/>
              <a:gdLst/>
              <a:ahLst/>
              <a:cxnLst/>
              <a:rect r="r" b="b" t="t" l="l"/>
              <a:pathLst>
                <a:path h="1137412" w="10928096">
                  <a:moveTo>
                    <a:pt x="0" y="0"/>
                  </a:moveTo>
                  <a:lnTo>
                    <a:pt x="10928096" y="0"/>
                  </a:lnTo>
                  <a:lnTo>
                    <a:pt x="10928096" y="1137412"/>
                  </a:lnTo>
                  <a:lnTo>
                    <a:pt x="0" y="1137412"/>
                  </a:lnTo>
                  <a:lnTo>
                    <a:pt x="0" y="0"/>
                  </a:lnTo>
                  <a:close/>
                </a:path>
              </a:pathLst>
            </a:custGeom>
            <a:blipFill>
              <a:blip r:embed="rId6"/>
              <a:stretch>
                <a:fillRect l="0" t="-272" r="0" b="-275"/>
              </a:stretch>
            </a:blipFill>
          </p:spPr>
        </p:sp>
      </p:grpSp>
      <p:sp>
        <p:nvSpPr>
          <p:cNvPr name="TextBox 18" id="18"/>
          <p:cNvSpPr txBox="true"/>
          <p:nvPr/>
        </p:nvSpPr>
        <p:spPr>
          <a:xfrm rot="0">
            <a:off x="1161157" y="8447783"/>
            <a:ext cx="3620880" cy="439148"/>
          </a:xfrm>
          <a:prstGeom prst="rect">
            <a:avLst/>
          </a:prstGeom>
        </p:spPr>
        <p:txBody>
          <a:bodyPr anchor="t" rtlCol="false" tIns="0" lIns="0" bIns="0" rIns="0">
            <a:spAutoFit/>
          </a:bodyPr>
          <a:lstStyle/>
          <a:p>
            <a:pPr algn="l">
              <a:lnSpc>
                <a:spcPts val="3127"/>
              </a:lnSpc>
            </a:pPr>
            <a:r>
              <a:rPr lang="en-US" sz="2487" b="true">
                <a:solidFill>
                  <a:srgbClr val="384653"/>
                </a:solidFill>
                <a:latin typeface="Times New Roman MT Bold"/>
                <a:ea typeface="Times New Roman MT Bold"/>
                <a:cs typeface="Times New Roman MT Bold"/>
                <a:sym typeface="Times New Roman MT Bold"/>
              </a:rPr>
              <a:t>Summary Generation</a:t>
            </a:r>
          </a:p>
        </p:txBody>
      </p:sp>
      <p:sp>
        <p:nvSpPr>
          <p:cNvPr name="TextBox 19" id="19"/>
          <p:cNvSpPr txBox="true"/>
          <p:nvPr/>
        </p:nvSpPr>
        <p:spPr>
          <a:xfrm rot="0">
            <a:off x="1161158" y="8869264"/>
            <a:ext cx="7769572" cy="412799"/>
          </a:xfrm>
          <a:prstGeom prst="rect">
            <a:avLst/>
          </a:prstGeom>
        </p:spPr>
        <p:txBody>
          <a:bodyPr anchor="t" rtlCol="false" tIns="0" lIns="0" bIns="0" rIns="0">
            <a:spAutoFit/>
          </a:bodyPr>
          <a:lstStyle/>
          <a:p>
            <a:pPr algn="l">
              <a:lnSpc>
                <a:spcPts val="3109"/>
              </a:lnSpc>
            </a:pPr>
            <a:r>
              <a:rPr lang="en-US" sz="1924">
                <a:solidFill>
                  <a:srgbClr val="384653"/>
                </a:solidFill>
                <a:latin typeface="Times New Roman MT"/>
                <a:ea typeface="Times New Roman MT"/>
                <a:cs typeface="Times New Roman MT"/>
                <a:sym typeface="Times New Roman MT"/>
              </a:rPr>
              <a:t>Producing concise, accurate summaries</a:t>
            </a:r>
          </a:p>
        </p:txBody>
      </p:sp>
      <p:grpSp>
        <p:nvGrpSpPr>
          <p:cNvPr name="Group 20" id="20"/>
          <p:cNvGrpSpPr>
            <a:grpSpLocks noChangeAspect="true"/>
          </p:cNvGrpSpPr>
          <p:nvPr/>
        </p:nvGrpSpPr>
        <p:grpSpPr>
          <a:xfrm rot="0">
            <a:off x="9144000" y="7448104"/>
            <a:ext cx="8196114" cy="853083"/>
            <a:chOff x="0" y="0"/>
            <a:chExt cx="10928152" cy="1137443"/>
          </a:xfrm>
        </p:grpSpPr>
        <p:sp>
          <p:nvSpPr>
            <p:cNvPr name="Freeform 21" id="21" descr="preencoded.png"/>
            <p:cNvSpPr/>
            <p:nvPr/>
          </p:nvSpPr>
          <p:spPr>
            <a:xfrm flipH="false" flipV="false" rot="0">
              <a:off x="0" y="0"/>
              <a:ext cx="10928096" cy="1137412"/>
            </a:xfrm>
            <a:custGeom>
              <a:avLst/>
              <a:gdLst/>
              <a:ahLst/>
              <a:cxnLst/>
              <a:rect r="r" b="b" t="t" l="l"/>
              <a:pathLst>
                <a:path h="1137412" w="10928096">
                  <a:moveTo>
                    <a:pt x="0" y="0"/>
                  </a:moveTo>
                  <a:lnTo>
                    <a:pt x="10928096" y="0"/>
                  </a:lnTo>
                  <a:lnTo>
                    <a:pt x="10928096" y="1137412"/>
                  </a:lnTo>
                  <a:lnTo>
                    <a:pt x="0" y="1137412"/>
                  </a:lnTo>
                  <a:lnTo>
                    <a:pt x="0" y="0"/>
                  </a:lnTo>
                  <a:close/>
                </a:path>
              </a:pathLst>
            </a:custGeom>
            <a:blipFill>
              <a:blip r:embed="rId7"/>
              <a:stretch>
                <a:fillRect l="0" t="-272" r="0" b="-275"/>
              </a:stretch>
            </a:blipFill>
          </p:spPr>
        </p:sp>
      </p:grpSp>
      <p:sp>
        <p:nvSpPr>
          <p:cNvPr name="TextBox 22" id="22"/>
          <p:cNvSpPr txBox="true"/>
          <p:nvPr/>
        </p:nvSpPr>
        <p:spPr>
          <a:xfrm rot="0">
            <a:off x="9357271" y="8447783"/>
            <a:ext cx="2806154" cy="439148"/>
          </a:xfrm>
          <a:prstGeom prst="rect">
            <a:avLst/>
          </a:prstGeom>
        </p:spPr>
        <p:txBody>
          <a:bodyPr anchor="t" rtlCol="false" tIns="0" lIns="0" bIns="0" rIns="0">
            <a:spAutoFit/>
          </a:bodyPr>
          <a:lstStyle/>
          <a:p>
            <a:pPr algn="l">
              <a:lnSpc>
                <a:spcPts val="3127"/>
              </a:lnSpc>
            </a:pPr>
            <a:r>
              <a:rPr lang="en-US" sz="2487" b="true">
                <a:solidFill>
                  <a:srgbClr val="384653"/>
                </a:solidFill>
                <a:latin typeface="Times New Roman MT Bold"/>
                <a:ea typeface="Times New Roman MT Bold"/>
                <a:cs typeface="Times New Roman MT Bold"/>
                <a:sym typeface="Times New Roman MT Bold"/>
              </a:rPr>
              <a:t>Evaluation</a:t>
            </a:r>
          </a:p>
        </p:txBody>
      </p:sp>
      <p:sp>
        <p:nvSpPr>
          <p:cNvPr name="TextBox 23" id="23"/>
          <p:cNvSpPr txBox="true"/>
          <p:nvPr/>
        </p:nvSpPr>
        <p:spPr>
          <a:xfrm rot="0">
            <a:off x="9357271" y="8869264"/>
            <a:ext cx="7769572" cy="412799"/>
          </a:xfrm>
          <a:prstGeom prst="rect">
            <a:avLst/>
          </a:prstGeom>
        </p:spPr>
        <p:txBody>
          <a:bodyPr anchor="t" rtlCol="false" tIns="0" lIns="0" bIns="0" rIns="0">
            <a:spAutoFit/>
          </a:bodyPr>
          <a:lstStyle/>
          <a:p>
            <a:pPr algn="l">
              <a:lnSpc>
                <a:spcPts val="3109"/>
              </a:lnSpc>
            </a:pPr>
            <a:r>
              <a:rPr lang="en-US" sz="1924">
                <a:solidFill>
                  <a:srgbClr val="384653"/>
                </a:solidFill>
                <a:latin typeface="Times New Roman MT"/>
                <a:ea typeface="Times New Roman MT"/>
                <a:cs typeface="Times New Roman MT"/>
                <a:sym typeface="Times New Roman MT"/>
              </a:rPr>
              <a:t>Measuring quality with ROUGE scores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1585450" y="274463"/>
            <a:ext cx="11782442" cy="1043828"/>
          </a:xfrm>
          <a:prstGeom prst="rect">
            <a:avLst/>
          </a:prstGeom>
        </p:spPr>
        <p:txBody>
          <a:bodyPr anchor="t" rtlCol="false" tIns="0" lIns="0" bIns="0" rIns="0">
            <a:spAutoFit/>
          </a:bodyPr>
          <a:lstStyle/>
          <a:p>
            <a:pPr algn="l">
              <a:lnSpc>
                <a:spcPts val="7358"/>
              </a:lnSpc>
            </a:pPr>
            <a:r>
              <a:rPr lang="en-US" sz="5849" b="true">
                <a:solidFill>
                  <a:srgbClr val="2E3C4E"/>
                </a:solidFill>
                <a:latin typeface="Times New Roman MT Bold"/>
                <a:ea typeface="Times New Roman MT Bold"/>
                <a:cs typeface="Times New Roman MT Bold"/>
                <a:sym typeface="Times New Roman MT Bold"/>
              </a:rPr>
              <a:t>Dataset and Preprocessing Pipeline</a:t>
            </a:r>
          </a:p>
        </p:txBody>
      </p:sp>
      <p:sp>
        <p:nvSpPr>
          <p:cNvPr name="TextBox 7" id="7"/>
          <p:cNvSpPr txBox="true"/>
          <p:nvPr/>
        </p:nvSpPr>
        <p:spPr>
          <a:xfrm rot="0">
            <a:off x="654293" y="2283947"/>
            <a:ext cx="3146030" cy="549810"/>
          </a:xfrm>
          <a:prstGeom prst="rect">
            <a:avLst/>
          </a:prstGeom>
        </p:spPr>
        <p:txBody>
          <a:bodyPr anchor="t" rtlCol="false" tIns="0" lIns="0" bIns="0" rIns="0">
            <a:spAutoFit/>
          </a:bodyPr>
          <a:lstStyle/>
          <a:p>
            <a:pPr algn="l">
              <a:lnSpc>
                <a:spcPts val="3895"/>
              </a:lnSpc>
            </a:pPr>
            <a:r>
              <a:rPr lang="en-US" sz="3066" b="true">
                <a:solidFill>
                  <a:srgbClr val="2E3C4E"/>
                </a:solidFill>
                <a:latin typeface="Times New Roman MT Bold"/>
                <a:ea typeface="Times New Roman MT Bold"/>
                <a:cs typeface="Times New Roman MT Bold"/>
                <a:sym typeface="Times New Roman MT Bold"/>
              </a:rPr>
              <a:t>Data Preparation</a:t>
            </a:r>
          </a:p>
        </p:txBody>
      </p:sp>
      <p:sp>
        <p:nvSpPr>
          <p:cNvPr name="TextBox 8" id="8"/>
          <p:cNvSpPr txBox="true"/>
          <p:nvPr/>
        </p:nvSpPr>
        <p:spPr>
          <a:xfrm rot="0">
            <a:off x="654293" y="2828856"/>
            <a:ext cx="8389203" cy="1334064"/>
          </a:xfrm>
          <a:prstGeom prst="rect">
            <a:avLst/>
          </a:prstGeom>
        </p:spPr>
        <p:txBody>
          <a:bodyPr anchor="t" rtlCol="false" tIns="0" lIns="0" bIns="0" rIns="0">
            <a:spAutoFit/>
          </a:bodyPr>
          <a:lstStyle/>
          <a:p>
            <a:pPr algn="l">
              <a:lnSpc>
                <a:spcPts val="3544"/>
              </a:lnSpc>
            </a:pPr>
            <a:r>
              <a:rPr lang="en-US" sz="2145">
                <a:solidFill>
                  <a:srgbClr val="384653"/>
                </a:solidFill>
                <a:latin typeface="Times New Roman MT"/>
                <a:ea typeface="Times New Roman MT"/>
                <a:cs typeface="Times New Roman MT"/>
                <a:sym typeface="Times New Roman MT"/>
              </a:rPr>
              <a:t>We utilized the mtsamples.csv dataset containing approximately 5,000 medical transcription samples. Each sample includes a full transcription as input and a concise description as the target summary.</a:t>
            </a:r>
          </a:p>
        </p:txBody>
      </p:sp>
      <p:sp>
        <p:nvSpPr>
          <p:cNvPr name="TextBox 9" id="9"/>
          <p:cNvSpPr txBox="true"/>
          <p:nvPr/>
        </p:nvSpPr>
        <p:spPr>
          <a:xfrm rot="0">
            <a:off x="654293" y="4542489"/>
            <a:ext cx="8389203" cy="601207"/>
          </a:xfrm>
          <a:prstGeom prst="rect">
            <a:avLst/>
          </a:prstGeom>
        </p:spPr>
        <p:txBody>
          <a:bodyPr anchor="t" rtlCol="false" tIns="0" lIns="0" bIns="0" rIns="0">
            <a:spAutoFit/>
          </a:bodyPr>
          <a:lstStyle/>
          <a:p>
            <a:pPr algn="l">
              <a:lnSpc>
                <a:spcPts val="4626"/>
              </a:lnSpc>
            </a:pPr>
            <a:r>
              <a:rPr lang="en-US" sz="2800" b="true">
                <a:solidFill>
                  <a:srgbClr val="384653"/>
                </a:solidFill>
                <a:latin typeface="Times New Roman MT Bold"/>
                <a:ea typeface="Times New Roman MT Bold"/>
                <a:cs typeface="Times New Roman MT Bold"/>
                <a:sym typeface="Times New Roman MT Bold"/>
              </a:rPr>
              <a:t>Key preprocessing steps:</a:t>
            </a:r>
          </a:p>
        </p:txBody>
      </p:sp>
      <p:sp>
        <p:nvSpPr>
          <p:cNvPr name="TextBox 10" id="10"/>
          <p:cNvSpPr txBox="true"/>
          <p:nvPr/>
        </p:nvSpPr>
        <p:spPr>
          <a:xfrm rot="0">
            <a:off x="654293" y="5087995"/>
            <a:ext cx="8389203" cy="451452"/>
          </a:xfrm>
          <a:prstGeom prst="rect">
            <a:avLst/>
          </a:prstGeom>
        </p:spPr>
        <p:txBody>
          <a:bodyPr anchor="t" rtlCol="false" tIns="0" lIns="0" bIns="0" rIns="0">
            <a:spAutoFit/>
          </a:bodyPr>
          <a:lstStyle/>
          <a:p>
            <a:pPr algn="l" marL="323560" indent="-161780" lvl="1">
              <a:lnSpc>
                <a:spcPts val="3544"/>
              </a:lnSpc>
              <a:buFont typeface="Arial"/>
              <a:buChar char="•"/>
            </a:pPr>
            <a:r>
              <a:rPr lang="en-US" sz="2145">
                <a:solidFill>
                  <a:srgbClr val="384653"/>
                </a:solidFill>
                <a:latin typeface="Times New Roman MT"/>
                <a:ea typeface="Times New Roman MT"/>
                <a:cs typeface="Times New Roman MT"/>
                <a:sym typeface="Times New Roman MT"/>
              </a:rPr>
              <a:t>Load CSV and rename columns to 'text' and 'summary'</a:t>
            </a:r>
          </a:p>
        </p:txBody>
      </p:sp>
      <p:sp>
        <p:nvSpPr>
          <p:cNvPr name="TextBox 11" id="11"/>
          <p:cNvSpPr txBox="true"/>
          <p:nvPr/>
        </p:nvSpPr>
        <p:spPr>
          <a:xfrm rot="0">
            <a:off x="654293" y="5476332"/>
            <a:ext cx="8389203" cy="451452"/>
          </a:xfrm>
          <a:prstGeom prst="rect">
            <a:avLst/>
          </a:prstGeom>
        </p:spPr>
        <p:txBody>
          <a:bodyPr anchor="t" rtlCol="false" tIns="0" lIns="0" bIns="0" rIns="0">
            <a:spAutoFit/>
          </a:bodyPr>
          <a:lstStyle/>
          <a:p>
            <a:pPr algn="l" marL="323560" indent="-161780" lvl="1">
              <a:lnSpc>
                <a:spcPts val="3544"/>
              </a:lnSpc>
              <a:buFont typeface="Arial"/>
              <a:buChar char="•"/>
            </a:pPr>
            <a:r>
              <a:rPr lang="en-US" sz="2145">
                <a:solidFill>
                  <a:srgbClr val="384653"/>
                </a:solidFill>
                <a:latin typeface="Times New Roman MT"/>
                <a:ea typeface="Times New Roman MT"/>
                <a:cs typeface="Times New Roman MT"/>
                <a:sym typeface="Times New Roman MT"/>
              </a:rPr>
              <a:t>Remove NA values to ensure data quality</a:t>
            </a:r>
          </a:p>
        </p:txBody>
      </p:sp>
      <p:sp>
        <p:nvSpPr>
          <p:cNvPr name="TextBox 12" id="12"/>
          <p:cNvSpPr txBox="true"/>
          <p:nvPr/>
        </p:nvSpPr>
        <p:spPr>
          <a:xfrm rot="0">
            <a:off x="654293" y="5864667"/>
            <a:ext cx="8389203" cy="451452"/>
          </a:xfrm>
          <a:prstGeom prst="rect">
            <a:avLst/>
          </a:prstGeom>
        </p:spPr>
        <p:txBody>
          <a:bodyPr anchor="t" rtlCol="false" tIns="0" lIns="0" bIns="0" rIns="0">
            <a:spAutoFit/>
          </a:bodyPr>
          <a:lstStyle/>
          <a:p>
            <a:pPr algn="l" marL="323560" indent="-161780" lvl="1">
              <a:lnSpc>
                <a:spcPts val="3544"/>
              </a:lnSpc>
              <a:buFont typeface="Arial"/>
              <a:buChar char="•"/>
            </a:pPr>
            <a:r>
              <a:rPr lang="en-US" sz="2145">
                <a:solidFill>
                  <a:srgbClr val="384653"/>
                </a:solidFill>
                <a:latin typeface="Times New Roman MT"/>
                <a:ea typeface="Times New Roman MT"/>
                <a:cs typeface="Times New Roman MT"/>
                <a:sym typeface="Times New Roman MT"/>
              </a:rPr>
              <a:t>Train custom WordPiece tokenizer with 30,000 vocab size</a:t>
            </a:r>
          </a:p>
        </p:txBody>
      </p:sp>
      <p:sp>
        <p:nvSpPr>
          <p:cNvPr name="TextBox 13" id="13"/>
          <p:cNvSpPr txBox="true"/>
          <p:nvPr/>
        </p:nvSpPr>
        <p:spPr>
          <a:xfrm rot="0">
            <a:off x="654293" y="6253004"/>
            <a:ext cx="8389203" cy="451452"/>
          </a:xfrm>
          <a:prstGeom prst="rect">
            <a:avLst/>
          </a:prstGeom>
        </p:spPr>
        <p:txBody>
          <a:bodyPr anchor="t" rtlCol="false" tIns="0" lIns="0" bIns="0" rIns="0">
            <a:spAutoFit/>
          </a:bodyPr>
          <a:lstStyle/>
          <a:p>
            <a:pPr algn="l" marL="323560" indent="-161780" lvl="1">
              <a:lnSpc>
                <a:spcPts val="3544"/>
              </a:lnSpc>
              <a:buFont typeface="Arial"/>
              <a:buChar char="•"/>
            </a:pPr>
            <a:r>
              <a:rPr lang="en-US" sz="2145">
                <a:solidFill>
                  <a:srgbClr val="384653"/>
                </a:solidFill>
                <a:latin typeface="Times New Roman MT"/>
                <a:ea typeface="Times New Roman MT"/>
                <a:cs typeface="Times New Roman MT"/>
                <a:sym typeface="Times New Roman MT"/>
              </a:rPr>
              <a:t>Tokenize, truncate, and pad sequences</a:t>
            </a:r>
          </a:p>
        </p:txBody>
      </p:sp>
      <p:sp>
        <p:nvSpPr>
          <p:cNvPr name="TextBox 14" id="14"/>
          <p:cNvSpPr txBox="true"/>
          <p:nvPr/>
        </p:nvSpPr>
        <p:spPr>
          <a:xfrm rot="0">
            <a:off x="654293" y="6641341"/>
            <a:ext cx="8389203" cy="451452"/>
          </a:xfrm>
          <a:prstGeom prst="rect">
            <a:avLst/>
          </a:prstGeom>
        </p:spPr>
        <p:txBody>
          <a:bodyPr anchor="t" rtlCol="false" tIns="0" lIns="0" bIns="0" rIns="0">
            <a:spAutoFit/>
          </a:bodyPr>
          <a:lstStyle/>
          <a:p>
            <a:pPr algn="l" marL="323560" indent="-161780" lvl="1">
              <a:lnSpc>
                <a:spcPts val="3544"/>
              </a:lnSpc>
              <a:buFont typeface="Arial"/>
              <a:buChar char="•"/>
            </a:pPr>
            <a:r>
              <a:rPr lang="en-US" sz="2145">
                <a:solidFill>
                  <a:srgbClr val="384653"/>
                </a:solidFill>
                <a:latin typeface="Times New Roman MT"/>
                <a:ea typeface="Times New Roman MT"/>
                <a:cs typeface="Times New Roman MT"/>
                <a:sym typeface="Times New Roman MT"/>
              </a:rPr>
              <a:t>Split into 80% training and 20% validation sets</a:t>
            </a:r>
          </a:p>
        </p:txBody>
      </p:sp>
      <p:sp>
        <p:nvSpPr>
          <p:cNvPr name="TextBox 15" id="15"/>
          <p:cNvSpPr txBox="true"/>
          <p:nvPr/>
        </p:nvSpPr>
        <p:spPr>
          <a:xfrm rot="0">
            <a:off x="9384357" y="1432591"/>
            <a:ext cx="429517" cy="683050"/>
          </a:xfrm>
          <a:prstGeom prst="rect">
            <a:avLst/>
          </a:prstGeom>
        </p:spPr>
        <p:txBody>
          <a:bodyPr anchor="t" rtlCol="false" tIns="0" lIns="0" bIns="0" rIns="0">
            <a:spAutoFit/>
          </a:bodyPr>
          <a:lstStyle/>
          <a:p>
            <a:pPr algn="l">
              <a:lnSpc>
                <a:spcPts val="5392"/>
              </a:lnSpc>
            </a:pPr>
            <a:r>
              <a:rPr lang="en-US" sz="3264">
                <a:solidFill>
                  <a:srgbClr val="384653"/>
                </a:solidFill>
                <a:latin typeface="Times New Roman MT"/>
                <a:ea typeface="Times New Roman MT"/>
                <a:cs typeface="Times New Roman MT"/>
                <a:sym typeface="Times New Roman MT"/>
              </a:rPr>
              <a:t>01</a:t>
            </a:r>
          </a:p>
        </p:txBody>
      </p:sp>
      <p:grpSp>
        <p:nvGrpSpPr>
          <p:cNvPr name="Group 16" id="16"/>
          <p:cNvGrpSpPr>
            <a:grpSpLocks noChangeAspect="true"/>
          </p:cNvGrpSpPr>
          <p:nvPr/>
        </p:nvGrpSpPr>
        <p:grpSpPr>
          <a:xfrm rot="0">
            <a:off x="9384357" y="2071836"/>
            <a:ext cx="7967068" cy="19050"/>
            <a:chOff x="0" y="0"/>
            <a:chExt cx="10622757" cy="25400"/>
          </a:xfrm>
        </p:grpSpPr>
        <p:sp>
          <p:nvSpPr>
            <p:cNvPr name="Freeform 17" id="17"/>
            <p:cNvSpPr/>
            <p:nvPr/>
          </p:nvSpPr>
          <p:spPr>
            <a:xfrm flipH="false" flipV="false" rot="0">
              <a:off x="0" y="0"/>
              <a:ext cx="10622788" cy="25400"/>
            </a:xfrm>
            <a:custGeom>
              <a:avLst/>
              <a:gdLst/>
              <a:ahLst/>
              <a:cxnLst/>
              <a:rect r="r" b="b" t="t" l="l"/>
              <a:pathLst>
                <a:path h="25400" w="10622788">
                  <a:moveTo>
                    <a:pt x="0" y="0"/>
                  </a:moveTo>
                  <a:lnTo>
                    <a:pt x="10622788" y="0"/>
                  </a:lnTo>
                  <a:lnTo>
                    <a:pt x="10622788" y="25400"/>
                  </a:lnTo>
                  <a:lnTo>
                    <a:pt x="0" y="25400"/>
                  </a:lnTo>
                  <a:lnTo>
                    <a:pt x="0" y="0"/>
                  </a:lnTo>
                  <a:close/>
                </a:path>
              </a:pathLst>
            </a:custGeom>
            <a:solidFill>
              <a:srgbClr val="000000"/>
            </a:solidFill>
            <a:ln w="12700">
              <a:solidFill>
                <a:srgbClr val="000000"/>
              </a:solidFill>
            </a:ln>
          </p:spPr>
        </p:sp>
      </p:grpSp>
      <p:sp>
        <p:nvSpPr>
          <p:cNvPr name="TextBox 18" id="18"/>
          <p:cNvSpPr txBox="true"/>
          <p:nvPr/>
        </p:nvSpPr>
        <p:spPr>
          <a:xfrm rot="0">
            <a:off x="9384358" y="2137767"/>
            <a:ext cx="2489746" cy="429700"/>
          </a:xfrm>
          <a:prstGeom prst="rect">
            <a:avLst/>
          </a:prstGeom>
        </p:spPr>
        <p:txBody>
          <a:bodyPr anchor="t" rtlCol="false" tIns="0" lIns="0" bIns="0" rIns="0">
            <a:spAutoFit/>
          </a:bodyPr>
          <a:lstStyle/>
          <a:p>
            <a:pPr algn="l">
              <a:lnSpc>
                <a:spcPts val="3066"/>
              </a:lnSpc>
            </a:pPr>
            <a:r>
              <a:rPr lang="en-US" sz="2437" b="true">
                <a:solidFill>
                  <a:srgbClr val="384653"/>
                </a:solidFill>
                <a:latin typeface="Times New Roman MT Bold"/>
                <a:ea typeface="Times New Roman MT Bold"/>
                <a:cs typeface="Times New Roman MT Bold"/>
                <a:sym typeface="Times New Roman MT Bold"/>
              </a:rPr>
              <a:t>Load Data</a:t>
            </a:r>
          </a:p>
        </p:txBody>
      </p:sp>
      <p:sp>
        <p:nvSpPr>
          <p:cNvPr name="TextBox 19" id="19"/>
          <p:cNvSpPr txBox="true"/>
          <p:nvPr/>
        </p:nvSpPr>
        <p:spPr>
          <a:xfrm rot="0">
            <a:off x="9384358" y="2571452"/>
            <a:ext cx="7967068" cy="422138"/>
          </a:xfrm>
          <a:prstGeom prst="rect">
            <a:avLst/>
          </a:prstGeom>
        </p:spPr>
        <p:txBody>
          <a:bodyPr anchor="t" rtlCol="false" tIns="0" lIns="0" bIns="0" rIns="0">
            <a:spAutoFit/>
          </a:bodyPr>
          <a:lstStyle/>
          <a:p>
            <a:pPr algn="l">
              <a:lnSpc>
                <a:spcPts val="3201"/>
              </a:lnSpc>
            </a:pPr>
            <a:r>
              <a:rPr lang="en-US" sz="1937">
                <a:solidFill>
                  <a:srgbClr val="000000"/>
                </a:solidFill>
                <a:latin typeface="Times New Roman MT"/>
                <a:ea typeface="Times New Roman MT"/>
                <a:cs typeface="Times New Roman MT"/>
                <a:sym typeface="Times New Roman MT"/>
              </a:rPr>
              <a:t>Import mtsamples.csv dataset</a:t>
            </a:r>
          </a:p>
        </p:txBody>
      </p:sp>
      <p:grpSp>
        <p:nvGrpSpPr>
          <p:cNvPr name="Group 20" id="20"/>
          <p:cNvGrpSpPr>
            <a:grpSpLocks noChangeAspect="true"/>
          </p:cNvGrpSpPr>
          <p:nvPr/>
        </p:nvGrpSpPr>
        <p:grpSpPr>
          <a:xfrm rot="0">
            <a:off x="9384357" y="3621286"/>
            <a:ext cx="7967068" cy="19050"/>
            <a:chOff x="0" y="0"/>
            <a:chExt cx="10622757" cy="25400"/>
          </a:xfrm>
        </p:grpSpPr>
        <p:sp>
          <p:nvSpPr>
            <p:cNvPr name="Freeform 21" id="21"/>
            <p:cNvSpPr/>
            <p:nvPr/>
          </p:nvSpPr>
          <p:spPr>
            <a:xfrm flipH="false" flipV="false" rot="0">
              <a:off x="0" y="0"/>
              <a:ext cx="10622788" cy="25400"/>
            </a:xfrm>
            <a:custGeom>
              <a:avLst/>
              <a:gdLst/>
              <a:ahLst/>
              <a:cxnLst/>
              <a:rect r="r" b="b" t="t" l="l"/>
              <a:pathLst>
                <a:path h="25400" w="10622788">
                  <a:moveTo>
                    <a:pt x="0" y="0"/>
                  </a:moveTo>
                  <a:lnTo>
                    <a:pt x="10622788" y="0"/>
                  </a:lnTo>
                  <a:lnTo>
                    <a:pt x="10622788" y="25400"/>
                  </a:lnTo>
                  <a:lnTo>
                    <a:pt x="0" y="25400"/>
                  </a:lnTo>
                  <a:lnTo>
                    <a:pt x="0" y="0"/>
                  </a:lnTo>
                  <a:close/>
                </a:path>
              </a:pathLst>
            </a:custGeom>
            <a:solidFill>
              <a:srgbClr val="000000"/>
            </a:solidFill>
            <a:ln w="12700">
              <a:solidFill>
                <a:srgbClr val="000000"/>
              </a:solidFill>
            </a:ln>
          </p:spPr>
        </p:sp>
      </p:grpSp>
      <p:sp>
        <p:nvSpPr>
          <p:cNvPr name="TextBox 22" id="22"/>
          <p:cNvSpPr txBox="true"/>
          <p:nvPr/>
        </p:nvSpPr>
        <p:spPr>
          <a:xfrm rot="0">
            <a:off x="9384358" y="3706714"/>
            <a:ext cx="2489746" cy="429700"/>
          </a:xfrm>
          <a:prstGeom prst="rect">
            <a:avLst/>
          </a:prstGeom>
        </p:spPr>
        <p:txBody>
          <a:bodyPr anchor="t" rtlCol="false" tIns="0" lIns="0" bIns="0" rIns="0">
            <a:spAutoFit/>
          </a:bodyPr>
          <a:lstStyle/>
          <a:p>
            <a:pPr algn="l">
              <a:lnSpc>
                <a:spcPts val="3066"/>
              </a:lnSpc>
            </a:pPr>
            <a:r>
              <a:rPr lang="en-US" sz="2437" b="true">
                <a:solidFill>
                  <a:srgbClr val="384653"/>
                </a:solidFill>
                <a:latin typeface="Times New Roman MT Bold"/>
                <a:ea typeface="Times New Roman MT Bold"/>
                <a:cs typeface="Times New Roman MT Bold"/>
                <a:sym typeface="Times New Roman MT Bold"/>
              </a:rPr>
              <a:t>Clean Text</a:t>
            </a:r>
          </a:p>
        </p:txBody>
      </p:sp>
      <p:sp>
        <p:nvSpPr>
          <p:cNvPr name="TextBox 23" id="23"/>
          <p:cNvSpPr txBox="true"/>
          <p:nvPr/>
        </p:nvSpPr>
        <p:spPr>
          <a:xfrm rot="0">
            <a:off x="9384358" y="4140399"/>
            <a:ext cx="7967068" cy="422138"/>
          </a:xfrm>
          <a:prstGeom prst="rect">
            <a:avLst/>
          </a:prstGeom>
        </p:spPr>
        <p:txBody>
          <a:bodyPr anchor="t" rtlCol="false" tIns="0" lIns="0" bIns="0" rIns="0">
            <a:spAutoFit/>
          </a:bodyPr>
          <a:lstStyle/>
          <a:p>
            <a:pPr algn="l">
              <a:lnSpc>
                <a:spcPts val="3201"/>
              </a:lnSpc>
            </a:pPr>
            <a:r>
              <a:rPr lang="en-US" sz="1937">
                <a:solidFill>
                  <a:srgbClr val="000000"/>
                </a:solidFill>
                <a:latin typeface="Times New Roman MT"/>
                <a:ea typeface="Times New Roman MT"/>
                <a:cs typeface="Times New Roman MT"/>
                <a:sym typeface="Times New Roman MT"/>
              </a:rPr>
              <a:t>Remove NA values and format columns</a:t>
            </a:r>
          </a:p>
        </p:txBody>
      </p:sp>
      <p:grpSp>
        <p:nvGrpSpPr>
          <p:cNvPr name="Group 24" id="24"/>
          <p:cNvGrpSpPr>
            <a:grpSpLocks noChangeAspect="true"/>
          </p:cNvGrpSpPr>
          <p:nvPr/>
        </p:nvGrpSpPr>
        <p:grpSpPr>
          <a:xfrm rot="0">
            <a:off x="9384357" y="5171331"/>
            <a:ext cx="7967068" cy="19050"/>
            <a:chOff x="0" y="0"/>
            <a:chExt cx="10622757" cy="25400"/>
          </a:xfrm>
        </p:grpSpPr>
        <p:sp>
          <p:nvSpPr>
            <p:cNvPr name="Freeform 25" id="25"/>
            <p:cNvSpPr/>
            <p:nvPr/>
          </p:nvSpPr>
          <p:spPr>
            <a:xfrm flipH="false" flipV="false" rot="0">
              <a:off x="0" y="0"/>
              <a:ext cx="10622788" cy="25400"/>
            </a:xfrm>
            <a:custGeom>
              <a:avLst/>
              <a:gdLst/>
              <a:ahLst/>
              <a:cxnLst/>
              <a:rect r="r" b="b" t="t" l="l"/>
              <a:pathLst>
                <a:path h="25400" w="10622788">
                  <a:moveTo>
                    <a:pt x="0" y="0"/>
                  </a:moveTo>
                  <a:lnTo>
                    <a:pt x="10622788" y="0"/>
                  </a:lnTo>
                  <a:lnTo>
                    <a:pt x="10622788" y="25400"/>
                  </a:lnTo>
                  <a:lnTo>
                    <a:pt x="0" y="25400"/>
                  </a:lnTo>
                  <a:lnTo>
                    <a:pt x="0" y="0"/>
                  </a:lnTo>
                  <a:close/>
                </a:path>
              </a:pathLst>
            </a:custGeom>
            <a:solidFill>
              <a:srgbClr val="000000"/>
            </a:solidFill>
            <a:ln w="12700">
              <a:solidFill>
                <a:srgbClr val="000000"/>
              </a:solidFill>
            </a:ln>
          </p:spPr>
        </p:sp>
      </p:grpSp>
      <p:sp>
        <p:nvSpPr>
          <p:cNvPr name="TextBox 26" id="26"/>
          <p:cNvSpPr txBox="true"/>
          <p:nvPr/>
        </p:nvSpPr>
        <p:spPr>
          <a:xfrm rot="0">
            <a:off x="9384358" y="5275660"/>
            <a:ext cx="2489746" cy="429700"/>
          </a:xfrm>
          <a:prstGeom prst="rect">
            <a:avLst/>
          </a:prstGeom>
        </p:spPr>
        <p:txBody>
          <a:bodyPr anchor="t" rtlCol="false" tIns="0" lIns="0" bIns="0" rIns="0">
            <a:spAutoFit/>
          </a:bodyPr>
          <a:lstStyle/>
          <a:p>
            <a:pPr algn="l">
              <a:lnSpc>
                <a:spcPts val="3066"/>
              </a:lnSpc>
            </a:pPr>
            <a:r>
              <a:rPr lang="en-US" sz="2437" b="true">
                <a:solidFill>
                  <a:srgbClr val="384653"/>
                </a:solidFill>
                <a:latin typeface="Times New Roman MT Bold"/>
                <a:ea typeface="Times New Roman MT Bold"/>
                <a:cs typeface="Times New Roman MT Bold"/>
                <a:sym typeface="Times New Roman MT Bold"/>
              </a:rPr>
              <a:t>Tokenize</a:t>
            </a:r>
          </a:p>
        </p:txBody>
      </p:sp>
      <p:sp>
        <p:nvSpPr>
          <p:cNvPr name="TextBox 27" id="27"/>
          <p:cNvSpPr txBox="true"/>
          <p:nvPr/>
        </p:nvSpPr>
        <p:spPr>
          <a:xfrm rot="0">
            <a:off x="9384358" y="5709345"/>
            <a:ext cx="7967068" cy="422138"/>
          </a:xfrm>
          <a:prstGeom prst="rect">
            <a:avLst/>
          </a:prstGeom>
        </p:spPr>
        <p:txBody>
          <a:bodyPr anchor="t" rtlCol="false" tIns="0" lIns="0" bIns="0" rIns="0">
            <a:spAutoFit/>
          </a:bodyPr>
          <a:lstStyle/>
          <a:p>
            <a:pPr algn="l">
              <a:lnSpc>
                <a:spcPts val="3201"/>
              </a:lnSpc>
            </a:pPr>
            <a:r>
              <a:rPr lang="en-US" sz="1937">
                <a:solidFill>
                  <a:srgbClr val="000000"/>
                </a:solidFill>
                <a:latin typeface="Times New Roman MT"/>
                <a:ea typeface="Times New Roman MT"/>
                <a:cs typeface="Times New Roman MT"/>
                <a:sym typeface="Times New Roman MT"/>
              </a:rPr>
              <a:t>Custom WordPiece tokenizer (30K vocab)</a:t>
            </a:r>
          </a:p>
        </p:txBody>
      </p:sp>
      <p:grpSp>
        <p:nvGrpSpPr>
          <p:cNvPr name="Group 28" id="28"/>
          <p:cNvGrpSpPr>
            <a:grpSpLocks noChangeAspect="true"/>
          </p:cNvGrpSpPr>
          <p:nvPr/>
        </p:nvGrpSpPr>
        <p:grpSpPr>
          <a:xfrm rot="0">
            <a:off x="9384357" y="6721376"/>
            <a:ext cx="7967068" cy="19050"/>
            <a:chOff x="0" y="0"/>
            <a:chExt cx="10622757" cy="25400"/>
          </a:xfrm>
        </p:grpSpPr>
        <p:sp>
          <p:nvSpPr>
            <p:cNvPr name="Freeform 29" id="29"/>
            <p:cNvSpPr/>
            <p:nvPr/>
          </p:nvSpPr>
          <p:spPr>
            <a:xfrm flipH="false" flipV="false" rot="0">
              <a:off x="0" y="0"/>
              <a:ext cx="10622788" cy="25400"/>
            </a:xfrm>
            <a:custGeom>
              <a:avLst/>
              <a:gdLst/>
              <a:ahLst/>
              <a:cxnLst/>
              <a:rect r="r" b="b" t="t" l="l"/>
              <a:pathLst>
                <a:path h="25400" w="10622788">
                  <a:moveTo>
                    <a:pt x="0" y="0"/>
                  </a:moveTo>
                  <a:lnTo>
                    <a:pt x="10622788" y="0"/>
                  </a:lnTo>
                  <a:lnTo>
                    <a:pt x="10622788" y="25400"/>
                  </a:lnTo>
                  <a:lnTo>
                    <a:pt x="0" y="25400"/>
                  </a:lnTo>
                  <a:lnTo>
                    <a:pt x="0" y="0"/>
                  </a:lnTo>
                  <a:close/>
                </a:path>
              </a:pathLst>
            </a:custGeom>
            <a:solidFill>
              <a:srgbClr val="000000"/>
            </a:solidFill>
            <a:ln w="12700">
              <a:solidFill>
                <a:srgbClr val="000000"/>
              </a:solidFill>
            </a:ln>
          </p:spPr>
        </p:sp>
      </p:grpSp>
      <p:sp>
        <p:nvSpPr>
          <p:cNvPr name="TextBox 30" id="30"/>
          <p:cNvSpPr txBox="true"/>
          <p:nvPr/>
        </p:nvSpPr>
        <p:spPr>
          <a:xfrm rot="0">
            <a:off x="9384358" y="6844605"/>
            <a:ext cx="2489746" cy="429700"/>
          </a:xfrm>
          <a:prstGeom prst="rect">
            <a:avLst/>
          </a:prstGeom>
        </p:spPr>
        <p:txBody>
          <a:bodyPr anchor="t" rtlCol="false" tIns="0" lIns="0" bIns="0" rIns="0">
            <a:spAutoFit/>
          </a:bodyPr>
          <a:lstStyle/>
          <a:p>
            <a:pPr algn="l">
              <a:lnSpc>
                <a:spcPts val="3066"/>
              </a:lnSpc>
            </a:pPr>
            <a:r>
              <a:rPr lang="en-US" sz="2437" b="true">
                <a:solidFill>
                  <a:srgbClr val="384653"/>
                </a:solidFill>
                <a:latin typeface="Times New Roman MT Bold"/>
                <a:ea typeface="Times New Roman MT Bold"/>
                <a:cs typeface="Times New Roman MT Bold"/>
                <a:sym typeface="Times New Roman MT Bold"/>
              </a:rPr>
              <a:t>Encode</a:t>
            </a:r>
          </a:p>
        </p:txBody>
      </p:sp>
      <p:sp>
        <p:nvSpPr>
          <p:cNvPr name="TextBox 31" id="31"/>
          <p:cNvSpPr txBox="true"/>
          <p:nvPr/>
        </p:nvSpPr>
        <p:spPr>
          <a:xfrm rot="0">
            <a:off x="9384358" y="7278291"/>
            <a:ext cx="7967068" cy="422138"/>
          </a:xfrm>
          <a:prstGeom prst="rect">
            <a:avLst/>
          </a:prstGeom>
        </p:spPr>
        <p:txBody>
          <a:bodyPr anchor="t" rtlCol="false" tIns="0" lIns="0" bIns="0" rIns="0">
            <a:spAutoFit/>
          </a:bodyPr>
          <a:lstStyle/>
          <a:p>
            <a:pPr algn="l">
              <a:lnSpc>
                <a:spcPts val="3201"/>
              </a:lnSpc>
            </a:pPr>
            <a:r>
              <a:rPr lang="en-US" sz="1937">
                <a:solidFill>
                  <a:srgbClr val="000000"/>
                </a:solidFill>
                <a:latin typeface="Times New Roman MT"/>
                <a:ea typeface="Times New Roman MT"/>
                <a:cs typeface="Times New Roman MT"/>
                <a:sym typeface="Times New Roman MT"/>
              </a:rPr>
              <a:t>Truncate to 512 input, 128 target length</a:t>
            </a:r>
          </a:p>
        </p:txBody>
      </p:sp>
      <p:grpSp>
        <p:nvGrpSpPr>
          <p:cNvPr name="Group 32" id="32"/>
          <p:cNvGrpSpPr>
            <a:grpSpLocks noChangeAspect="true"/>
          </p:cNvGrpSpPr>
          <p:nvPr/>
        </p:nvGrpSpPr>
        <p:grpSpPr>
          <a:xfrm rot="0">
            <a:off x="9384357" y="8271421"/>
            <a:ext cx="7967068" cy="19050"/>
            <a:chOff x="0" y="0"/>
            <a:chExt cx="10622757" cy="25400"/>
          </a:xfrm>
        </p:grpSpPr>
        <p:sp>
          <p:nvSpPr>
            <p:cNvPr name="Freeform 33" id="33"/>
            <p:cNvSpPr/>
            <p:nvPr/>
          </p:nvSpPr>
          <p:spPr>
            <a:xfrm flipH="false" flipV="false" rot="0">
              <a:off x="0" y="0"/>
              <a:ext cx="10622788" cy="25400"/>
            </a:xfrm>
            <a:custGeom>
              <a:avLst/>
              <a:gdLst/>
              <a:ahLst/>
              <a:cxnLst/>
              <a:rect r="r" b="b" t="t" l="l"/>
              <a:pathLst>
                <a:path h="25400" w="10622788">
                  <a:moveTo>
                    <a:pt x="0" y="0"/>
                  </a:moveTo>
                  <a:lnTo>
                    <a:pt x="10622788" y="0"/>
                  </a:lnTo>
                  <a:lnTo>
                    <a:pt x="10622788" y="25400"/>
                  </a:lnTo>
                  <a:lnTo>
                    <a:pt x="0" y="25400"/>
                  </a:lnTo>
                  <a:lnTo>
                    <a:pt x="0" y="0"/>
                  </a:lnTo>
                  <a:close/>
                </a:path>
              </a:pathLst>
            </a:custGeom>
            <a:solidFill>
              <a:srgbClr val="000000"/>
            </a:solidFill>
            <a:ln w="12700">
              <a:solidFill>
                <a:srgbClr val="000000"/>
              </a:solidFill>
            </a:ln>
          </p:spPr>
        </p:sp>
      </p:grpSp>
      <p:sp>
        <p:nvSpPr>
          <p:cNvPr name="TextBox 34" id="34"/>
          <p:cNvSpPr txBox="true"/>
          <p:nvPr/>
        </p:nvSpPr>
        <p:spPr>
          <a:xfrm rot="0">
            <a:off x="9384358" y="8413551"/>
            <a:ext cx="2489746" cy="429700"/>
          </a:xfrm>
          <a:prstGeom prst="rect">
            <a:avLst/>
          </a:prstGeom>
        </p:spPr>
        <p:txBody>
          <a:bodyPr anchor="t" rtlCol="false" tIns="0" lIns="0" bIns="0" rIns="0">
            <a:spAutoFit/>
          </a:bodyPr>
          <a:lstStyle/>
          <a:p>
            <a:pPr algn="l">
              <a:lnSpc>
                <a:spcPts val="3066"/>
              </a:lnSpc>
            </a:pPr>
            <a:r>
              <a:rPr lang="en-US" sz="2437" b="true">
                <a:solidFill>
                  <a:srgbClr val="384653"/>
                </a:solidFill>
                <a:latin typeface="Times New Roman MT Bold"/>
                <a:ea typeface="Times New Roman MT Bold"/>
                <a:cs typeface="Times New Roman MT Bold"/>
                <a:sym typeface="Times New Roman MT Bold"/>
              </a:rPr>
              <a:t>Split</a:t>
            </a:r>
          </a:p>
        </p:txBody>
      </p:sp>
      <p:sp>
        <p:nvSpPr>
          <p:cNvPr name="TextBox 35" id="35"/>
          <p:cNvSpPr txBox="true"/>
          <p:nvPr/>
        </p:nvSpPr>
        <p:spPr>
          <a:xfrm rot="0">
            <a:off x="9384358" y="8847236"/>
            <a:ext cx="7967068" cy="422138"/>
          </a:xfrm>
          <a:prstGeom prst="rect">
            <a:avLst/>
          </a:prstGeom>
        </p:spPr>
        <p:txBody>
          <a:bodyPr anchor="t" rtlCol="false" tIns="0" lIns="0" bIns="0" rIns="0">
            <a:spAutoFit/>
          </a:bodyPr>
          <a:lstStyle/>
          <a:p>
            <a:pPr algn="l">
              <a:lnSpc>
                <a:spcPts val="3201"/>
              </a:lnSpc>
            </a:pPr>
            <a:r>
              <a:rPr lang="en-US" sz="1937">
                <a:solidFill>
                  <a:srgbClr val="000000"/>
                </a:solidFill>
                <a:latin typeface="Times New Roman MT"/>
                <a:ea typeface="Times New Roman MT"/>
                <a:cs typeface="Times New Roman MT"/>
                <a:sym typeface="Times New Roman MT"/>
              </a:rPr>
              <a:t>80% train, 20% validation</a:t>
            </a:r>
          </a:p>
        </p:txBody>
      </p:sp>
      <p:sp>
        <p:nvSpPr>
          <p:cNvPr name="TextBox 36" id="36"/>
          <p:cNvSpPr txBox="true"/>
          <p:nvPr/>
        </p:nvSpPr>
        <p:spPr>
          <a:xfrm rot="0">
            <a:off x="9384357" y="3042714"/>
            <a:ext cx="429517" cy="683050"/>
          </a:xfrm>
          <a:prstGeom prst="rect">
            <a:avLst/>
          </a:prstGeom>
        </p:spPr>
        <p:txBody>
          <a:bodyPr anchor="t" rtlCol="false" tIns="0" lIns="0" bIns="0" rIns="0">
            <a:spAutoFit/>
          </a:bodyPr>
          <a:lstStyle/>
          <a:p>
            <a:pPr algn="l">
              <a:lnSpc>
                <a:spcPts val="5392"/>
              </a:lnSpc>
            </a:pPr>
            <a:r>
              <a:rPr lang="en-US" sz="3264">
                <a:solidFill>
                  <a:srgbClr val="384653"/>
                </a:solidFill>
                <a:latin typeface="Times New Roman MT"/>
                <a:ea typeface="Times New Roman MT"/>
                <a:cs typeface="Times New Roman MT"/>
                <a:sym typeface="Times New Roman MT"/>
              </a:rPr>
              <a:t>02</a:t>
            </a:r>
          </a:p>
        </p:txBody>
      </p:sp>
      <p:sp>
        <p:nvSpPr>
          <p:cNvPr name="TextBox 37" id="37"/>
          <p:cNvSpPr txBox="true"/>
          <p:nvPr/>
        </p:nvSpPr>
        <p:spPr>
          <a:xfrm rot="0">
            <a:off x="9384358" y="4609554"/>
            <a:ext cx="429517" cy="683050"/>
          </a:xfrm>
          <a:prstGeom prst="rect">
            <a:avLst/>
          </a:prstGeom>
        </p:spPr>
        <p:txBody>
          <a:bodyPr anchor="t" rtlCol="false" tIns="0" lIns="0" bIns="0" rIns="0">
            <a:spAutoFit/>
          </a:bodyPr>
          <a:lstStyle/>
          <a:p>
            <a:pPr algn="l">
              <a:lnSpc>
                <a:spcPts val="5392"/>
              </a:lnSpc>
            </a:pPr>
            <a:r>
              <a:rPr lang="en-US" sz="3264">
                <a:solidFill>
                  <a:srgbClr val="384653"/>
                </a:solidFill>
                <a:latin typeface="Times New Roman MT"/>
                <a:ea typeface="Times New Roman MT"/>
                <a:cs typeface="Times New Roman MT"/>
                <a:sym typeface="Times New Roman MT"/>
              </a:rPr>
              <a:t>03</a:t>
            </a:r>
          </a:p>
        </p:txBody>
      </p:sp>
      <p:sp>
        <p:nvSpPr>
          <p:cNvPr name="TextBox 38" id="38"/>
          <p:cNvSpPr txBox="true"/>
          <p:nvPr/>
        </p:nvSpPr>
        <p:spPr>
          <a:xfrm rot="0">
            <a:off x="9384358" y="6094880"/>
            <a:ext cx="429517" cy="683050"/>
          </a:xfrm>
          <a:prstGeom prst="rect">
            <a:avLst/>
          </a:prstGeom>
        </p:spPr>
        <p:txBody>
          <a:bodyPr anchor="t" rtlCol="false" tIns="0" lIns="0" bIns="0" rIns="0">
            <a:spAutoFit/>
          </a:bodyPr>
          <a:lstStyle/>
          <a:p>
            <a:pPr algn="l">
              <a:lnSpc>
                <a:spcPts val="5392"/>
              </a:lnSpc>
            </a:pPr>
            <a:r>
              <a:rPr lang="en-US" sz="3264">
                <a:solidFill>
                  <a:srgbClr val="384653"/>
                </a:solidFill>
                <a:latin typeface="Times New Roman MT"/>
                <a:ea typeface="Times New Roman MT"/>
                <a:cs typeface="Times New Roman MT"/>
                <a:sym typeface="Times New Roman MT"/>
              </a:rPr>
              <a:t>04</a:t>
            </a:r>
          </a:p>
        </p:txBody>
      </p:sp>
      <p:sp>
        <p:nvSpPr>
          <p:cNvPr name="TextBox 39" id="39"/>
          <p:cNvSpPr txBox="true"/>
          <p:nvPr/>
        </p:nvSpPr>
        <p:spPr>
          <a:xfrm rot="0">
            <a:off x="9384358" y="7671854"/>
            <a:ext cx="429517" cy="683050"/>
          </a:xfrm>
          <a:prstGeom prst="rect">
            <a:avLst/>
          </a:prstGeom>
        </p:spPr>
        <p:txBody>
          <a:bodyPr anchor="t" rtlCol="false" tIns="0" lIns="0" bIns="0" rIns="0">
            <a:spAutoFit/>
          </a:bodyPr>
          <a:lstStyle/>
          <a:p>
            <a:pPr algn="l">
              <a:lnSpc>
                <a:spcPts val="5392"/>
              </a:lnSpc>
            </a:pPr>
            <a:r>
              <a:rPr lang="en-US" sz="3264">
                <a:solidFill>
                  <a:srgbClr val="384653"/>
                </a:solidFill>
                <a:latin typeface="Times New Roman MT"/>
                <a:ea typeface="Times New Roman MT"/>
                <a:cs typeface="Times New Roman MT"/>
                <a:sym typeface="Times New Roman MT"/>
              </a:rPr>
              <a:t>05</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2548186"/>
            <a:ext cx="18288000" cy="7738814"/>
            <a:chOff x="0" y="0"/>
            <a:chExt cx="24384000" cy="10318419"/>
          </a:xfrm>
        </p:grpSpPr>
        <p:sp>
          <p:nvSpPr>
            <p:cNvPr name="Freeform 5" id="5"/>
            <p:cNvSpPr/>
            <p:nvPr/>
          </p:nvSpPr>
          <p:spPr>
            <a:xfrm flipH="false" flipV="false" rot="0">
              <a:off x="0" y="0"/>
              <a:ext cx="24384000" cy="10318419"/>
            </a:xfrm>
            <a:custGeom>
              <a:avLst/>
              <a:gdLst/>
              <a:ahLst/>
              <a:cxnLst/>
              <a:rect r="r" b="b" t="t" l="l"/>
              <a:pathLst>
                <a:path h="10318419" w="24384000">
                  <a:moveTo>
                    <a:pt x="0" y="0"/>
                  </a:moveTo>
                  <a:lnTo>
                    <a:pt x="24384000" y="0"/>
                  </a:lnTo>
                  <a:lnTo>
                    <a:pt x="24384000" y="10318419"/>
                  </a:lnTo>
                  <a:lnTo>
                    <a:pt x="0" y="10318419"/>
                  </a:lnTo>
                  <a:close/>
                </a:path>
              </a:pathLst>
            </a:custGeom>
            <a:solidFill>
              <a:srgbClr val="FFFFFF"/>
            </a:solidFill>
          </p:spPr>
        </p:sp>
      </p:grpSp>
      <p:sp>
        <p:nvSpPr>
          <p:cNvPr name="TextBox 6" id="6"/>
          <p:cNvSpPr txBox="true"/>
          <p:nvPr/>
        </p:nvSpPr>
        <p:spPr>
          <a:xfrm rot="0">
            <a:off x="947886" y="3118843"/>
            <a:ext cx="7967811" cy="731838"/>
          </a:xfrm>
          <a:prstGeom prst="rect">
            <a:avLst/>
          </a:prstGeom>
        </p:spPr>
        <p:txBody>
          <a:bodyPr anchor="t" rtlCol="false" tIns="0" lIns="0" bIns="0" rIns="0">
            <a:spAutoFit/>
          </a:bodyPr>
          <a:lstStyle/>
          <a:p>
            <a:pPr algn="l">
              <a:lnSpc>
                <a:spcPts val="5187"/>
              </a:lnSpc>
            </a:pPr>
            <a:r>
              <a:rPr lang="en-US" sz="4124" b="true">
                <a:solidFill>
                  <a:srgbClr val="2E3C4E"/>
                </a:solidFill>
                <a:latin typeface="Times New Roman MT Bold"/>
                <a:ea typeface="Times New Roman MT Bold"/>
                <a:cs typeface="Times New Roman MT Bold"/>
                <a:sym typeface="Times New Roman MT Bold"/>
              </a:rPr>
              <a:t>Custom Transformer Architecture</a:t>
            </a:r>
          </a:p>
        </p:txBody>
      </p:sp>
      <p:sp>
        <p:nvSpPr>
          <p:cNvPr name="TextBox 7" id="7"/>
          <p:cNvSpPr txBox="true"/>
          <p:nvPr/>
        </p:nvSpPr>
        <p:spPr>
          <a:xfrm rot="0">
            <a:off x="947886" y="4102596"/>
            <a:ext cx="16392228" cy="635000"/>
          </a:xfrm>
          <a:prstGeom prst="rect">
            <a:avLst/>
          </a:prstGeom>
        </p:spPr>
        <p:txBody>
          <a:bodyPr anchor="t" rtlCol="false" tIns="0" lIns="0" bIns="0" rIns="0">
            <a:spAutoFit/>
          </a:bodyPr>
          <a:lstStyle/>
          <a:p>
            <a:pPr algn="l">
              <a:lnSpc>
                <a:spcPts val="2499"/>
              </a:lnSpc>
            </a:pPr>
            <a:r>
              <a:rPr lang="en-US" sz="1562">
                <a:solidFill>
                  <a:srgbClr val="384653"/>
                </a:solidFill>
                <a:latin typeface="Times New Roman MT"/>
                <a:ea typeface="Times New Roman MT"/>
                <a:cs typeface="Times New Roman MT"/>
                <a:sym typeface="Times New Roman MT"/>
              </a:rPr>
              <a:t>Built entirely from scratch in PyTorch to demonstrate fundamental understanding of attention mechanisms and sequence-to-sequence modeling. The architecture is optimized for Google Colab GPU constraints.</a:t>
            </a:r>
          </a:p>
        </p:txBody>
      </p:sp>
      <p:grpSp>
        <p:nvGrpSpPr>
          <p:cNvPr name="Group 8" id="8"/>
          <p:cNvGrpSpPr/>
          <p:nvPr/>
        </p:nvGrpSpPr>
        <p:grpSpPr>
          <a:xfrm rot="0">
            <a:off x="933599" y="5044679"/>
            <a:ext cx="8123932" cy="2188964"/>
            <a:chOff x="0" y="0"/>
            <a:chExt cx="10831910" cy="2918618"/>
          </a:xfrm>
        </p:grpSpPr>
        <p:sp>
          <p:nvSpPr>
            <p:cNvPr name="Freeform 9" id="9"/>
            <p:cNvSpPr/>
            <p:nvPr/>
          </p:nvSpPr>
          <p:spPr>
            <a:xfrm flipH="false" flipV="false" rot="0">
              <a:off x="19050" y="19050"/>
              <a:ext cx="10793857" cy="2880487"/>
            </a:xfrm>
            <a:custGeom>
              <a:avLst/>
              <a:gdLst/>
              <a:ahLst/>
              <a:cxnLst/>
              <a:rect r="r" b="b" t="t" l="l"/>
              <a:pathLst>
                <a:path h="2880487" w="10793857">
                  <a:moveTo>
                    <a:pt x="0" y="402844"/>
                  </a:moveTo>
                  <a:cubicBezTo>
                    <a:pt x="0" y="180340"/>
                    <a:pt x="182118" y="0"/>
                    <a:pt x="406781" y="0"/>
                  </a:cubicBezTo>
                  <a:lnTo>
                    <a:pt x="10387076" y="0"/>
                  </a:lnTo>
                  <a:cubicBezTo>
                    <a:pt x="10611739" y="0"/>
                    <a:pt x="10793857" y="180340"/>
                    <a:pt x="10793857" y="402844"/>
                  </a:cubicBezTo>
                  <a:lnTo>
                    <a:pt x="10793857" y="2477643"/>
                  </a:lnTo>
                  <a:cubicBezTo>
                    <a:pt x="10793857" y="2700147"/>
                    <a:pt x="10611739" y="2880487"/>
                    <a:pt x="10387076" y="2880487"/>
                  </a:cubicBezTo>
                  <a:lnTo>
                    <a:pt x="406781" y="2880487"/>
                  </a:lnTo>
                  <a:cubicBezTo>
                    <a:pt x="182118" y="2880487"/>
                    <a:pt x="0" y="2700147"/>
                    <a:pt x="0" y="2477643"/>
                  </a:cubicBezTo>
                  <a:close/>
                </a:path>
              </a:pathLst>
            </a:custGeom>
            <a:solidFill>
              <a:srgbClr val="FFFFFF"/>
            </a:solidFill>
          </p:spPr>
        </p:sp>
        <p:sp>
          <p:nvSpPr>
            <p:cNvPr name="Freeform 10" id="10"/>
            <p:cNvSpPr/>
            <p:nvPr/>
          </p:nvSpPr>
          <p:spPr>
            <a:xfrm flipH="false" flipV="false" rot="0">
              <a:off x="0" y="0"/>
              <a:ext cx="10831957" cy="2918587"/>
            </a:xfrm>
            <a:custGeom>
              <a:avLst/>
              <a:gdLst/>
              <a:ahLst/>
              <a:cxnLst/>
              <a:rect r="r" b="b" t="t" l="l"/>
              <a:pathLst>
                <a:path h="2918587" w="10831957">
                  <a:moveTo>
                    <a:pt x="0" y="421894"/>
                  </a:moveTo>
                  <a:cubicBezTo>
                    <a:pt x="0" y="188722"/>
                    <a:pt x="190754" y="0"/>
                    <a:pt x="425831" y="0"/>
                  </a:cubicBezTo>
                  <a:lnTo>
                    <a:pt x="10406126" y="0"/>
                  </a:lnTo>
                  <a:lnTo>
                    <a:pt x="10406126" y="19050"/>
                  </a:lnTo>
                  <a:lnTo>
                    <a:pt x="10406126" y="0"/>
                  </a:lnTo>
                  <a:cubicBezTo>
                    <a:pt x="10641076" y="0"/>
                    <a:pt x="10831957" y="188722"/>
                    <a:pt x="10831957" y="421894"/>
                  </a:cubicBezTo>
                  <a:lnTo>
                    <a:pt x="10812907" y="421894"/>
                  </a:lnTo>
                  <a:lnTo>
                    <a:pt x="10831957" y="421894"/>
                  </a:lnTo>
                  <a:lnTo>
                    <a:pt x="10831957" y="2496693"/>
                  </a:lnTo>
                  <a:lnTo>
                    <a:pt x="10812907" y="2496693"/>
                  </a:lnTo>
                  <a:lnTo>
                    <a:pt x="10831957" y="2496693"/>
                  </a:lnTo>
                  <a:cubicBezTo>
                    <a:pt x="10831957" y="2729865"/>
                    <a:pt x="10641203" y="2918587"/>
                    <a:pt x="10406126" y="2918587"/>
                  </a:cubicBezTo>
                  <a:lnTo>
                    <a:pt x="10406126" y="2899537"/>
                  </a:lnTo>
                  <a:lnTo>
                    <a:pt x="10406126" y="2918587"/>
                  </a:lnTo>
                  <a:lnTo>
                    <a:pt x="425831" y="2918587"/>
                  </a:lnTo>
                  <a:lnTo>
                    <a:pt x="425831" y="2899537"/>
                  </a:lnTo>
                  <a:lnTo>
                    <a:pt x="425831" y="2918587"/>
                  </a:lnTo>
                  <a:cubicBezTo>
                    <a:pt x="190754" y="2918587"/>
                    <a:pt x="0" y="2729865"/>
                    <a:pt x="0" y="2496693"/>
                  </a:cubicBezTo>
                  <a:lnTo>
                    <a:pt x="0" y="421894"/>
                  </a:lnTo>
                  <a:lnTo>
                    <a:pt x="19050" y="421894"/>
                  </a:lnTo>
                  <a:lnTo>
                    <a:pt x="0" y="421894"/>
                  </a:lnTo>
                  <a:moveTo>
                    <a:pt x="38100" y="421894"/>
                  </a:moveTo>
                  <a:lnTo>
                    <a:pt x="38100" y="2496693"/>
                  </a:lnTo>
                  <a:lnTo>
                    <a:pt x="19050" y="2496693"/>
                  </a:lnTo>
                  <a:lnTo>
                    <a:pt x="38100" y="2496693"/>
                  </a:lnTo>
                  <a:cubicBezTo>
                    <a:pt x="38100" y="2708529"/>
                    <a:pt x="211455" y="2880487"/>
                    <a:pt x="425831" y="2880487"/>
                  </a:cubicBezTo>
                  <a:lnTo>
                    <a:pt x="10406126" y="2880487"/>
                  </a:lnTo>
                  <a:cubicBezTo>
                    <a:pt x="10620375" y="2880487"/>
                    <a:pt x="10793857" y="2708529"/>
                    <a:pt x="10793857" y="2496693"/>
                  </a:cubicBezTo>
                  <a:lnTo>
                    <a:pt x="10793857" y="421894"/>
                  </a:lnTo>
                  <a:cubicBezTo>
                    <a:pt x="10793857" y="210058"/>
                    <a:pt x="10620375" y="38100"/>
                    <a:pt x="10406126" y="38100"/>
                  </a:cubicBezTo>
                  <a:lnTo>
                    <a:pt x="425831" y="38100"/>
                  </a:lnTo>
                  <a:lnTo>
                    <a:pt x="425831" y="19050"/>
                  </a:lnTo>
                  <a:lnTo>
                    <a:pt x="425831" y="38100"/>
                  </a:lnTo>
                  <a:cubicBezTo>
                    <a:pt x="211455" y="38100"/>
                    <a:pt x="38100" y="210058"/>
                    <a:pt x="38100" y="421894"/>
                  </a:cubicBezTo>
                  <a:close/>
                </a:path>
              </a:pathLst>
            </a:custGeom>
            <a:solidFill>
              <a:srgbClr val="BACFDD"/>
            </a:solidFill>
          </p:spPr>
        </p:sp>
      </p:grpSp>
      <p:grpSp>
        <p:nvGrpSpPr>
          <p:cNvPr name="Group 11" id="11"/>
          <p:cNvGrpSpPr/>
          <p:nvPr/>
        </p:nvGrpSpPr>
        <p:grpSpPr>
          <a:xfrm rot="0">
            <a:off x="976461" y="5087541"/>
            <a:ext cx="8038208" cy="604242"/>
            <a:chOff x="0" y="0"/>
            <a:chExt cx="10717610" cy="805657"/>
          </a:xfrm>
        </p:grpSpPr>
        <p:sp>
          <p:nvSpPr>
            <p:cNvPr name="Freeform 12" id="12"/>
            <p:cNvSpPr/>
            <p:nvPr/>
          </p:nvSpPr>
          <p:spPr>
            <a:xfrm flipH="false" flipV="false" rot="0">
              <a:off x="0" y="0"/>
              <a:ext cx="10717657" cy="805688"/>
            </a:xfrm>
            <a:custGeom>
              <a:avLst/>
              <a:gdLst/>
              <a:ahLst/>
              <a:cxnLst/>
              <a:rect r="r" b="b" t="t" l="l"/>
              <a:pathLst>
                <a:path h="805688" w="10717657">
                  <a:moveTo>
                    <a:pt x="0" y="357124"/>
                  </a:moveTo>
                  <a:cubicBezTo>
                    <a:pt x="0" y="159893"/>
                    <a:pt x="159893" y="0"/>
                    <a:pt x="357124" y="0"/>
                  </a:cubicBezTo>
                  <a:lnTo>
                    <a:pt x="10360533" y="0"/>
                  </a:lnTo>
                  <a:cubicBezTo>
                    <a:pt x="10557764" y="0"/>
                    <a:pt x="10717657" y="159893"/>
                    <a:pt x="10717657" y="357124"/>
                  </a:cubicBezTo>
                  <a:lnTo>
                    <a:pt x="10717657" y="448564"/>
                  </a:lnTo>
                  <a:cubicBezTo>
                    <a:pt x="10717657" y="645795"/>
                    <a:pt x="10557764" y="805688"/>
                    <a:pt x="10360533" y="805688"/>
                  </a:cubicBezTo>
                  <a:lnTo>
                    <a:pt x="357124" y="805688"/>
                  </a:lnTo>
                  <a:cubicBezTo>
                    <a:pt x="159893" y="805688"/>
                    <a:pt x="0" y="645795"/>
                    <a:pt x="0" y="448564"/>
                  </a:cubicBezTo>
                  <a:close/>
                </a:path>
              </a:pathLst>
            </a:custGeom>
            <a:solidFill>
              <a:srgbClr val="D4E9F7"/>
            </a:solidFill>
          </p:spPr>
        </p:sp>
      </p:grpSp>
      <p:grpSp>
        <p:nvGrpSpPr>
          <p:cNvPr name="Group 13" id="13"/>
          <p:cNvGrpSpPr>
            <a:grpSpLocks noChangeAspect="true"/>
          </p:cNvGrpSpPr>
          <p:nvPr/>
        </p:nvGrpSpPr>
        <p:grpSpPr>
          <a:xfrm rot="0">
            <a:off x="4844504" y="5196036"/>
            <a:ext cx="302121" cy="377578"/>
            <a:chOff x="0" y="0"/>
            <a:chExt cx="402828" cy="503437"/>
          </a:xfrm>
        </p:grpSpPr>
        <p:sp>
          <p:nvSpPr>
            <p:cNvPr name="Freeform 14" id="14" descr="preencoded.png"/>
            <p:cNvSpPr/>
            <p:nvPr/>
          </p:nvSpPr>
          <p:spPr>
            <a:xfrm flipH="false" flipV="false" rot="0">
              <a:off x="0" y="0"/>
              <a:ext cx="402844" cy="503428"/>
            </a:xfrm>
            <a:custGeom>
              <a:avLst/>
              <a:gdLst/>
              <a:ahLst/>
              <a:cxnLst/>
              <a:rect r="r" b="b" t="t" l="l"/>
              <a:pathLst>
                <a:path h="503428" w="402844">
                  <a:moveTo>
                    <a:pt x="0" y="0"/>
                  </a:moveTo>
                  <a:lnTo>
                    <a:pt x="402844" y="0"/>
                  </a:lnTo>
                  <a:lnTo>
                    <a:pt x="402844" y="503428"/>
                  </a:lnTo>
                  <a:lnTo>
                    <a:pt x="0" y="503428"/>
                  </a:lnTo>
                  <a:lnTo>
                    <a:pt x="0" y="0"/>
                  </a:lnTo>
                  <a:close/>
                </a:path>
              </a:pathLst>
            </a:custGeom>
            <a:blipFill>
              <a:blip r:embed="rId4"/>
              <a:stretch>
                <a:fillRect l="0" t="-9" r="3" b="-11"/>
              </a:stretch>
            </a:blipFill>
          </p:spPr>
        </p:sp>
      </p:grpSp>
      <p:sp>
        <p:nvSpPr>
          <p:cNvPr name="TextBox 15" id="15"/>
          <p:cNvSpPr txBox="true"/>
          <p:nvPr/>
        </p:nvSpPr>
        <p:spPr>
          <a:xfrm rot="0">
            <a:off x="1177826" y="5835998"/>
            <a:ext cx="2650331" cy="369887"/>
          </a:xfrm>
          <a:prstGeom prst="rect">
            <a:avLst/>
          </a:prstGeom>
        </p:spPr>
        <p:txBody>
          <a:bodyPr anchor="t" rtlCol="false" tIns="0" lIns="0" bIns="0" rIns="0">
            <a:spAutoFit/>
          </a:bodyPr>
          <a:lstStyle/>
          <a:p>
            <a:pPr algn="l">
              <a:lnSpc>
                <a:spcPts val="2562"/>
              </a:lnSpc>
            </a:pPr>
            <a:r>
              <a:rPr lang="en-US" sz="2062" b="true">
                <a:solidFill>
                  <a:srgbClr val="384653"/>
                </a:solidFill>
                <a:latin typeface="Times New Roman MT Bold"/>
                <a:ea typeface="Times New Roman MT Bold"/>
                <a:cs typeface="Times New Roman MT Bold"/>
                <a:sym typeface="Times New Roman MT Bold"/>
              </a:rPr>
              <a:t>Embedding Layer</a:t>
            </a:r>
          </a:p>
        </p:txBody>
      </p:sp>
      <p:sp>
        <p:nvSpPr>
          <p:cNvPr name="TextBox 16" id="16"/>
          <p:cNvSpPr txBox="true"/>
          <p:nvPr/>
        </p:nvSpPr>
        <p:spPr>
          <a:xfrm rot="0">
            <a:off x="1177826" y="6259563"/>
            <a:ext cx="7635479" cy="635000"/>
          </a:xfrm>
          <a:prstGeom prst="rect">
            <a:avLst/>
          </a:prstGeom>
        </p:spPr>
        <p:txBody>
          <a:bodyPr anchor="t" rtlCol="false" tIns="0" lIns="0" bIns="0" rIns="0">
            <a:spAutoFit/>
          </a:bodyPr>
          <a:lstStyle/>
          <a:p>
            <a:pPr algn="l">
              <a:lnSpc>
                <a:spcPts val="2499"/>
              </a:lnSpc>
            </a:pPr>
            <a:r>
              <a:rPr lang="en-US" sz="1562">
                <a:solidFill>
                  <a:srgbClr val="384653"/>
                </a:solidFill>
                <a:latin typeface="Times New Roman MT"/>
                <a:ea typeface="Times New Roman MT"/>
                <a:cs typeface="Times New Roman MT"/>
                <a:sym typeface="Times New Roman MT"/>
              </a:rPr>
              <a:t>Converts vocabulary tokens to 256-dimensional vectors, providing semantic representation of medical terms</a:t>
            </a:r>
          </a:p>
        </p:txBody>
      </p:sp>
      <p:grpSp>
        <p:nvGrpSpPr>
          <p:cNvPr name="Group 17" id="17"/>
          <p:cNvGrpSpPr/>
          <p:nvPr/>
        </p:nvGrpSpPr>
        <p:grpSpPr>
          <a:xfrm rot="0">
            <a:off x="9230320" y="5044679"/>
            <a:ext cx="8124081" cy="2188964"/>
            <a:chOff x="0" y="0"/>
            <a:chExt cx="10832108" cy="2918618"/>
          </a:xfrm>
        </p:grpSpPr>
        <p:sp>
          <p:nvSpPr>
            <p:cNvPr name="Freeform 18" id="18"/>
            <p:cNvSpPr/>
            <p:nvPr/>
          </p:nvSpPr>
          <p:spPr>
            <a:xfrm flipH="false" flipV="false" rot="0">
              <a:off x="19050" y="19050"/>
              <a:ext cx="10793985" cy="2880487"/>
            </a:xfrm>
            <a:custGeom>
              <a:avLst/>
              <a:gdLst/>
              <a:ahLst/>
              <a:cxnLst/>
              <a:rect r="r" b="b" t="t" l="l"/>
              <a:pathLst>
                <a:path h="2880487" w="10793985">
                  <a:moveTo>
                    <a:pt x="0" y="402844"/>
                  </a:moveTo>
                  <a:cubicBezTo>
                    <a:pt x="0" y="180340"/>
                    <a:pt x="182118" y="0"/>
                    <a:pt x="406781" y="0"/>
                  </a:cubicBezTo>
                  <a:lnTo>
                    <a:pt x="10387203" y="0"/>
                  </a:lnTo>
                  <a:cubicBezTo>
                    <a:pt x="10611866" y="0"/>
                    <a:pt x="10793985" y="180340"/>
                    <a:pt x="10793985" y="402844"/>
                  </a:cubicBezTo>
                  <a:lnTo>
                    <a:pt x="10793985" y="2477643"/>
                  </a:lnTo>
                  <a:cubicBezTo>
                    <a:pt x="10793985" y="2700147"/>
                    <a:pt x="10611866" y="2880487"/>
                    <a:pt x="10387203" y="2880487"/>
                  </a:cubicBezTo>
                  <a:lnTo>
                    <a:pt x="406781" y="2880487"/>
                  </a:lnTo>
                  <a:cubicBezTo>
                    <a:pt x="182118" y="2880487"/>
                    <a:pt x="0" y="2700147"/>
                    <a:pt x="0" y="2477643"/>
                  </a:cubicBezTo>
                  <a:close/>
                </a:path>
              </a:pathLst>
            </a:custGeom>
            <a:solidFill>
              <a:srgbClr val="FFFFFF"/>
            </a:solidFill>
          </p:spPr>
        </p:sp>
        <p:sp>
          <p:nvSpPr>
            <p:cNvPr name="Freeform 19" id="19"/>
            <p:cNvSpPr/>
            <p:nvPr/>
          </p:nvSpPr>
          <p:spPr>
            <a:xfrm flipH="false" flipV="false" rot="0">
              <a:off x="0" y="0"/>
              <a:ext cx="10832085" cy="2918587"/>
            </a:xfrm>
            <a:custGeom>
              <a:avLst/>
              <a:gdLst/>
              <a:ahLst/>
              <a:cxnLst/>
              <a:rect r="r" b="b" t="t" l="l"/>
              <a:pathLst>
                <a:path h="2918587" w="10832085">
                  <a:moveTo>
                    <a:pt x="0" y="421894"/>
                  </a:moveTo>
                  <a:cubicBezTo>
                    <a:pt x="0" y="188722"/>
                    <a:pt x="190754" y="0"/>
                    <a:pt x="425831" y="0"/>
                  </a:cubicBezTo>
                  <a:lnTo>
                    <a:pt x="10406253" y="0"/>
                  </a:lnTo>
                  <a:lnTo>
                    <a:pt x="10406253" y="19050"/>
                  </a:lnTo>
                  <a:lnTo>
                    <a:pt x="10406253" y="0"/>
                  </a:lnTo>
                  <a:cubicBezTo>
                    <a:pt x="10641203" y="0"/>
                    <a:pt x="10832085" y="188722"/>
                    <a:pt x="10832085" y="421894"/>
                  </a:cubicBezTo>
                  <a:lnTo>
                    <a:pt x="10813035" y="421894"/>
                  </a:lnTo>
                  <a:lnTo>
                    <a:pt x="10832085" y="421894"/>
                  </a:lnTo>
                  <a:lnTo>
                    <a:pt x="10832085" y="2496693"/>
                  </a:lnTo>
                  <a:lnTo>
                    <a:pt x="10813035" y="2496693"/>
                  </a:lnTo>
                  <a:lnTo>
                    <a:pt x="10832085" y="2496693"/>
                  </a:lnTo>
                  <a:cubicBezTo>
                    <a:pt x="10832085" y="2729865"/>
                    <a:pt x="10641330" y="2918587"/>
                    <a:pt x="10406253" y="2918587"/>
                  </a:cubicBezTo>
                  <a:lnTo>
                    <a:pt x="10406253" y="2899537"/>
                  </a:lnTo>
                  <a:lnTo>
                    <a:pt x="10406253" y="2918587"/>
                  </a:lnTo>
                  <a:lnTo>
                    <a:pt x="425831" y="2918587"/>
                  </a:lnTo>
                  <a:lnTo>
                    <a:pt x="425831" y="2899537"/>
                  </a:lnTo>
                  <a:lnTo>
                    <a:pt x="425831" y="2918587"/>
                  </a:lnTo>
                  <a:cubicBezTo>
                    <a:pt x="190754" y="2918587"/>
                    <a:pt x="0" y="2729865"/>
                    <a:pt x="0" y="2496693"/>
                  </a:cubicBezTo>
                  <a:lnTo>
                    <a:pt x="0" y="421894"/>
                  </a:lnTo>
                  <a:lnTo>
                    <a:pt x="19050" y="421894"/>
                  </a:lnTo>
                  <a:lnTo>
                    <a:pt x="0" y="421894"/>
                  </a:lnTo>
                  <a:moveTo>
                    <a:pt x="38100" y="421894"/>
                  </a:moveTo>
                  <a:lnTo>
                    <a:pt x="38100" y="2496693"/>
                  </a:lnTo>
                  <a:lnTo>
                    <a:pt x="19050" y="2496693"/>
                  </a:lnTo>
                  <a:lnTo>
                    <a:pt x="38100" y="2496693"/>
                  </a:lnTo>
                  <a:cubicBezTo>
                    <a:pt x="38100" y="2708529"/>
                    <a:pt x="211455" y="2880487"/>
                    <a:pt x="425831" y="2880487"/>
                  </a:cubicBezTo>
                  <a:lnTo>
                    <a:pt x="10406253" y="2880487"/>
                  </a:lnTo>
                  <a:cubicBezTo>
                    <a:pt x="10620502" y="2880487"/>
                    <a:pt x="10793985" y="2708529"/>
                    <a:pt x="10793985" y="2496693"/>
                  </a:cubicBezTo>
                  <a:lnTo>
                    <a:pt x="10793985" y="421894"/>
                  </a:lnTo>
                  <a:cubicBezTo>
                    <a:pt x="10793984" y="210058"/>
                    <a:pt x="10620629" y="38100"/>
                    <a:pt x="10406253" y="38100"/>
                  </a:cubicBezTo>
                  <a:lnTo>
                    <a:pt x="425831" y="38100"/>
                  </a:lnTo>
                  <a:lnTo>
                    <a:pt x="425831" y="19050"/>
                  </a:lnTo>
                  <a:lnTo>
                    <a:pt x="425831" y="38100"/>
                  </a:lnTo>
                  <a:cubicBezTo>
                    <a:pt x="211455" y="38100"/>
                    <a:pt x="38100" y="210058"/>
                    <a:pt x="38100" y="421894"/>
                  </a:cubicBezTo>
                  <a:close/>
                </a:path>
              </a:pathLst>
            </a:custGeom>
            <a:solidFill>
              <a:srgbClr val="BACFDD"/>
            </a:solidFill>
          </p:spPr>
        </p:sp>
      </p:grpSp>
      <p:grpSp>
        <p:nvGrpSpPr>
          <p:cNvPr name="Group 20" id="20"/>
          <p:cNvGrpSpPr/>
          <p:nvPr/>
        </p:nvGrpSpPr>
        <p:grpSpPr>
          <a:xfrm rot="0">
            <a:off x="9273182" y="5087541"/>
            <a:ext cx="8038356" cy="604242"/>
            <a:chOff x="0" y="0"/>
            <a:chExt cx="10717808" cy="805657"/>
          </a:xfrm>
        </p:grpSpPr>
        <p:sp>
          <p:nvSpPr>
            <p:cNvPr name="Freeform 21" id="21"/>
            <p:cNvSpPr/>
            <p:nvPr/>
          </p:nvSpPr>
          <p:spPr>
            <a:xfrm flipH="false" flipV="false" rot="0">
              <a:off x="0" y="0"/>
              <a:ext cx="10717784" cy="805688"/>
            </a:xfrm>
            <a:custGeom>
              <a:avLst/>
              <a:gdLst/>
              <a:ahLst/>
              <a:cxnLst/>
              <a:rect r="r" b="b" t="t" l="l"/>
              <a:pathLst>
                <a:path h="805688" w="10717784">
                  <a:moveTo>
                    <a:pt x="0" y="357124"/>
                  </a:moveTo>
                  <a:cubicBezTo>
                    <a:pt x="0" y="159893"/>
                    <a:pt x="159893" y="0"/>
                    <a:pt x="357124" y="0"/>
                  </a:cubicBezTo>
                  <a:lnTo>
                    <a:pt x="10360660" y="0"/>
                  </a:lnTo>
                  <a:cubicBezTo>
                    <a:pt x="10557891" y="0"/>
                    <a:pt x="10717784" y="159893"/>
                    <a:pt x="10717784" y="357124"/>
                  </a:cubicBezTo>
                  <a:lnTo>
                    <a:pt x="10717784" y="448564"/>
                  </a:lnTo>
                  <a:cubicBezTo>
                    <a:pt x="10717784" y="645795"/>
                    <a:pt x="10557891" y="805688"/>
                    <a:pt x="10360660" y="805688"/>
                  </a:cubicBezTo>
                  <a:lnTo>
                    <a:pt x="357124" y="805688"/>
                  </a:lnTo>
                  <a:cubicBezTo>
                    <a:pt x="159893" y="805688"/>
                    <a:pt x="0" y="645795"/>
                    <a:pt x="0" y="448564"/>
                  </a:cubicBezTo>
                  <a:close/>
                </a:path>
              </a:pathLst>
            </a:custGeom>
            <a:solidFill>
              <a:srgbClr val="D4E9F7"/>
            </a:solidFill>
          </p:spPr>
        </p:sp>
      </p:grpSp>
      <p:grpSp>
        <p:nvGrpSpPr>
          <p:cNvPr name="Group 22" id="22"/>
          <p:cNvGrpSpPr>
            <a:grpSpLocks noChangeAspect="true"/>
          </p:cNvGrpSpPr>
          <p:nvPr/>
        </p:nvGrpSpPr>
        <p:grpSpPr>
          <a:xfrm rot="0">
            <a:off x="13141226" y="5196036"/>
            <a:ext cx="302121" cy="377578"/>
            <a:chOff x="0" y="0"/>
            <a:chExt cx="402828" cy="503437"/>
          </a:xfrm>
        </p:grpSpPr>
        <p:sp>
          <p:nvSpPr>
            <p:cNvPr name="Freeform 23" id="23" descr="preencoded.png"/>
            <p:cNvSpPr/>
            <p:nvPr/>
          </p:nvSpPr>
          <p:spPr>
            <a:xfrm flipH="false" flipV="false" rot="0">
              <a:off x="0" y="0"/>
              <a:ext cx="402844" cy="503428"/>
            </a:xfrm>
            <a:custGeom>
              <a:avLst/>
              <a:gdLst/>
              <a:ahLst/>
              <a:cxnLst/>
              <a:rect r="r" b="b" t="t" l="l"/>
              <a:pathLst>
                <a:path h="503428" w="402844">
                  <a:moveTo>
                    <a:pt x="0" y="0"/>
                  </a:moveTo>
                  <a:lnTo>
                    <a:pt x="402844" y="0"/>
                  </a:lnTo>
                  <a:lnTo>
                    <a:pt x="402844" y="503428"/>
                  </a:lnTo>
                  <a:lnTo>
                    <a:pt x="0" y="503428"/>
                  </a:lnTo>
                  <a:lnTo>
                    <a:pt x="0" y="0"/>
                  </a:lnTo>
                  <a:close/>
                </a:path>
              </a:pathLst>
            </a:custGeom>
            <a:blipFill>
              <a:blip r:embed="rId5"/>
              <a:stretch>
                <a:fillRect l="0" t="-9" r="3" b="-11"/>
              </a:stretch>
            </a:blipFill>
          </p:spPr>
        </p:sp>
      </p:grpSp>
      <p:sp>
        <p:nvSpPr>
          <p:cNvPr name="TextBox 24" id="24"/>
          <p:cNvSpPr txBox="true"/>
          <p:nvPr/>
        </p:nvSpPr>
        <p:spPr>
          <a:xfrm rot="0">
            <a:off x="9474548" y="5835998"/>
            <a:ext cx="2650331" cy="369887"/>
          </a:xfrm>
          <a:prstGeom prst="rect">
            <a:avLst/>
          </a:prstGeom>
        </p:spPr>
        <p:txBody>
          <a:bodyPr anchor="t" rtlCol="false" tIns="0" lIns="0" bIns="0" rIns="0">
            <a:spAutoFit/>
          </a:bodyPr>
          <a:lstStyle/>
          <a:p>
            <a:pPr algn="l">
              <a:lnSpc>
                <a:spcPts val="2562"/>
              </a:lnSpc>
            </a:pPr>
            <a:r>
              <a:rPr lang="en-US" sz="2062" b="true">
                <a:solidFill>
                  <a:srgbClr val="384653"/>
                </a:solidFill>
                <a:latin typeface="Times New Roman MT Bold"/>
                <a:ea typeface="Times New Roman MT Bold"/>
                <a:cs typeface="Times New Roman MT Bold"/>
                <a:sym typeface="Times New Roman MT Bold"/>
              </a:rPr>
              <a:t>Positional Encoding</a:t>
            </a:r>
          </a:p>
        </p:txBody>
      </p:sp>
      <p:sp>
        <p:nvSpPr>
          <p:cNvPr name="TextBox 25" id="25"/>
          <p:cNvSpPr txBox="true"/>
          <p:nvPr/>
        </p:nvSpPr>
        <p:spPr>
          <a:xfrm rot="0">
            <a:off x="9474548" y="6259563"/>
            <a:ext cx="7635627" cy="320675"/>
          </a:xfrm>
          <a:prstGeom prst="rect">
            <a:avLst/>
          </a:prstGeom>
        </p:spPr>
        <p:txBody>
          <a:bodyPr anchor="t" rtlCol="false" tIns="0" lIns="0" bIns="0" rIns="0">
            <a:spAutoFit/>
          </a:bodyPr>
          <a:lstStyle/>
          <a:p>
            <a:pPr algn="l">
              <a:lnSpc>
                <a:spcPts val="2499"/>
              </a:lnSpc>
            </a:pPr>
            <a:r>
              <a:rPr lang="en-US" sz="1562">
                <a:solidFill>
                  <a:srgbClr val="384653"/>
                </a:solidFill>
                <a:latin typeface="Times New Roman MT"/>
                <a:ea typeface="Times New Roman MT"/>
                <a:cs typeface="Times New Roman MT"/>
                <a:sym typeface="Times New Roman MT"/>
              </a:rPr>
              <a:t>Sinusoidal encoding to capture sequence order information in medical narratives</a:t>
            </a:r>
          </a:p>
        </p:txBody>
      </p:sp>
      <p:grpSp>
        <p:nvGrpSpPr>
          <p:cNvPr name="Group 26" id="26"/>
          <p:cNvGrpSpPr/>
          <p:nvPr/>
        </p:nvGrpSpPr>
        <p:grpSpPr>
          <a:xfrm rot="0">
            <a:off x="933599" y="7406431"/>
            <a:ext cx="8123932" cy="2188964"/>
            <a:chOff x="0" y="0"/>
            <a:chExt cx="10831910" cy="2918618"/>
          </a:xfrm>
        </p:grpSpPr>
        <p:sp>
          <p:nvSpPr>
            <p:cNvPr name="Freeform 27" id="27"/>
            <p:cNvSpPr/>
            <p:nvPr/>
          </p:nvSpPr>
          <p:spPr>
            <a:xfrm flipH="false" flipV="false" rot="0">
              <a:off x="19050" y="19050"/>
              <a:ext cx="10793857" cy="2880487"/>
            </a:xfrm>
            <a:custGeom>
              <a:avLst/>
              <a:gdLst/>
              <a:ahLst/>
              <a:cxnLst/>
              <a:rect r="r" b="b" t="t" l="l"/>
              <a:pathLst>
                <a:path h="2880487" w="10793857">
                  <a:moveTo>
                    <a:pt x="0" y="402844"/>
                  </a:moveTo>
                  <a:cubicBezTo>
                    <a:pt x="0" y="180340"/>
                    <a:pt x="182118" y="0"/>
                    <a:pt x="406781" y="0"/>
                  </a:cubicBezTo>
                  <a:lnTo>
                    <a:pt x="10387076" y="0"/>
                  </a:lnTo>
                  <a:cubicBezTo>
                    <a:pt x="10611739" y="0"/>
                    <a:pt x="10793857" y="180340"/>
                    <a:pt x="10793857" y="402844"/>
                  </a:cubicBezTo>
                  <a:lnTo>
                    <a:pt x="10793857" y="2477643"/>
                  </a:lnTo>
                  <a:cubicBezTo>
                    <a:pt x="10793857" y="2700147"/>
                    <a:pt x="10611739" y="2880487"/>
                    <a:pt x="10387076" y="2880487"/>
                  </a:cubicBezTo>
                  <a:lnTo>
                    <a:pt x="406781" y="2880487"/>
                  </a:lnTo>
                  <a:cubicBezTo>
                    <a:pt x="182118" y="2880487"/>
                    <a:pt x="0" y="2700147"/>
                    <a:pt x="0" y="2477643"/>
                  </a:cubicBezTo>
                  <a:close/>
                </a:path>
              </a:pathLst>
            </a:custGeom>
            <a:solidFill>
              <a:srgbClr val="FFFFFF"/>
            </a:solidFill>
          </p:spPr>
        </p:sp>
        <p:sp>
          <p:nvSpPr>
            <p:cNvPr name="Freeform 28" id="28"/>
            <p:cNvSpPr/>
            <p:nvPr/>
          </p:nvSpPr>
          <p:spPr>
            <a:xfrm flipH="false" flipV="false" rot="0">
              <a:off x="0" y="0"/>
              <a:ext cx="10831957" cy="2918587"/>
            </a:xfrm>
            <a:custGeom>
              <a:avLst/>
              <a:gdLst/>
              <a:ahLst/>
              <a:cxnLst/>
              <a:rect r="r" b="b" t="t" l="l"/>
              <a:pathLst>
                <a:path h="2918587" w="10831957">
                  <a:moveTo>
                    <a:pt x="0" y="421894"/>
                  </a:moveTo>
                  <a:cubicBezTo>
                    <a:pt x="0" y="188722"/>
                    <a:pt x="190754" y="0"/>
                    <a:pt x="425831" y="0"/>
                  </a:cubicBezTo>
                  <a:lnTo>
                    <a:pt x="10406126" y="0"/>
                  </a:lnTo>
                  <a:lnTo>
                    <a:pt x="10406126" y="19050"/>
                  </a:lnTo>
                  <a:lnTo>
                    <a:pt x="10406126" y="0"/>
                  </a:lnTo>
                  <a:cubicBezTo>
                    <a:pt x="10641076" y="0"/>
                    <a:pt x="10831957" y="188722"/>
                    <a:pt x="10831957" y="421894"/>
                  </a:cubicBezTo>
                  <a:lnTo>
                    <a:pt x="10812907" y="421894"/>
                  </a:lnTo>
                  <a:lnTo>
                    <a:pt x="10831957" y="421894"/>
                  </a:lnTo>
                  <a:lnTo>
                    <a:pt x="10831957" y="2496693"/>
                  </a:lnTo>
                  <a:lnTo>
                    <a:pt x="10812907" y="2496693"/>
                  </a:lnTo>
                  <a:lnTo>
                    <a:pt x="10831957" y="2496693"/>
                  </a:lnTo>
                  <a:cubicBezTo>
                    <a:pt x="10831957" y="2729865"/>
                    <a:pt x="10641203" y="2918587"/>
                    <a:pt x="10406126" y="2918587"/>
                  </a:cubicBezTo>
                  <a:lnTo>
                    <a:pt x="10406126" y="2899537"/>
                  </a:lnTo>
                  <a:lnTo>
                    <a:pt x="10406126" y="2918587"/>
                  </a:lnTo>
                  <a:lnTo>
                    <a:pt x="425831" y="2918587"/>
                  </a:lnTo>
                  <a:lnTo>
                    <a:pt x="425831" y="2899537"/>
                  </a:lnTo>
                  <a:lnTo>
                    <a:pt x="425831" y="2918587"/>
                  </a:lnTo>
                  <a:cubicBezTo>
                    <a:pt x="190754" y="2918587"/>
                    <a:pt x="0" y="2729865"/>
                    <a:pt x="0" y="2496693"/>
                  </a:cubicBezTo>
                  <a:lnTo>
                    <a:pt x="0" y="421894"/>
                  </a:lnTo>
                  <a:lnTo>
                    <a:pt x="19050" y="421894"/>
                  </a:lnTo>
                  <a:lnTo>
                    <a:pt x="0" y="421894"/>
                  </a:lnTo>
                  <a:moveTo>
                    <a:pt x="38100" y="421894"/>
                  </a:moveTo>
                  <a:lnTo>
                    <a:pt x="38100" y="2496693"/>
                  </a:lnTo>
                  <a:lnTo>
                    <a:pt x="19050" y="2496693"/>
                  </a:lnTo>
                  <a:lnTo>
                    <a:pt x="38100" y="2496693"/>
                  </a:lnTo>
                  <a:cubicBezTo>
                    <a:pt x="38100" y="2708529"/>
                    <a:pt x="211455" y="2880487"/>
                    <a:pt x="425831" y="2880487"/>
                  </a:cubicBezTo>
                  <a:lnTo>
                    <a:pt x="10406126" y="2880487"/>
                  </a:lnTo>
                  <a:cubicBezTo>
                    <a:pt x="10620375" y="2880487"/>
                    <a:pt x="10793857" y="2708529"/>
                    <a:pt x="10793857" y="2496693"/>
                  </a:cubicBezTo>
                  <a:lnTo>
                    <a:pt x="10793857" y="421894"/>
                  </a:lnTo>
                  <a:cubicBezTo>
                    <a:pt x="10793857" y="210058"/>
                    <a:pt x="10620375" y="38100"/>
                    <a:pt x="10406126" y="38100"/>
                  </a:cubicBezTo>
                  <a:lnTo>
                    <a:pt x="425831" y="38100"/>
                  </a:lnTo>
                  <a:lnTo>
                    <a:pt x="425831" y="19050"/>
                  </a:lnTo>
                  <a:lnTo>
                    <a:pt x="425831" y="38100"/>
                  </a:lnTo>
                  <a:cubicBezTo>
                    <a:pt x="211455" y="38100"/>
                    <a:pt x="38100" y="210058"/>
                    <a:pt x="38100" y="421894"/>
                  </a:cubicBezTo>
                  <a:close/>
                </a:path>
              </a:pathLst>
            </a:custGeom>
            <a:solidFill>
              <a:srgbClr val="BACFDD"/>
            </a:solidFill>
          </p:spPr>
        </p:sp>
      </p:grpSp>
      <p:grpSp>
        <p:nvGrpSpPr>
          <p:cNvPr name="Group 29" id="29"/>
          <p:cNvGrpSpPr/>
          <p:nvPr/>
        </p:nvGrpSpPr>
        <p:grpSpPr>
          <a:xfrm rot="0">
            <a:off x="976461" y="7449294"/>
            <a:ext cx="8038208" cy="604242"/>
            <a:chOff x="0" y="0"/>
            <a:chExt cx="10717610" cy="805657"/>
          </a:xfrm>
        </p:grpSpPr>
        <p:sp>
          <p:nvSpPr>
            <p:cNvPr name="Freeform 30" id="30"/>
            <p:cNvSpPr/>
            <p:nvPr/>
          </p:nvSpPr>
          <p:spPr>
            <a:xfrm flipH="false" flipV="false" rot="0">
              <a:off x="0" y="0"/>
              <a:ext cx="10717657" cy="805688"/>
            </a:xfrm>
            <a:custGeom>
              <a:avLst/>
              <a:gdLst/>
              <a:ahLst/>
              <a:cxnLst/>
              <a:rect r="r" b="b" t="t" l="l"/>
              <a:pathLst>
                <a:path h="805688" w="10717657">
                  <a:moveTo>
                    <a:pt x="0" y="357124"/>
                  </a:moveTo>
                  <a:cubicBezTo>
                    <a:pt x="0" y="159893"/>
                    <a:pt x="159893" y="0"/>
                    <a:pt x="357124" y="0"/>
                  </a:cubicBezTo>
                  <a:lnTo>
                    <a:pt x="10360533" y="0"/>
                  </a:lnTo>
                  <a:cubicBezTo>
                    <a:pt x="10557764" y="0"/>
                    <a:pt x="10717657" y="159893"/>
                    <a:pt x="10717657" y="357124"/>
                  </a:cubicBezTo>
                  <a:lnTo>
                    <a:pt x="10717657" y="448564"/>
                  </a:lnTo>
                  <a:cubicBezTo>
                    <a:pt x="10717657" y="645795"/>
                    <a:pt x="10557764" y="805688"/>
                    <a:pt x="10360533" y="805688"/>
                  </a:cubicBezTo>
                  <a:lnTo>
                    <a:pt x="357124" y="805688"/>
                  </a:lnTo>
                  <a:cubicBezTo>
                    <a:pt x="159893" y="805688"/>
                    <a:pt x="0" y="645795"/>
                    <a:pt x="0" y="448564"/>
                  </a:cubicBezTo>
                  <a:close/>
                </a:path>
              </a:pathLst>
            </a:custGeom>
            <a:solidFill>
              <a:srgbClr val="D4E9F7"/>
            </a:solidFill>
          </p:spPr>
        </p:sp>
      </p:grpSp>
      <p:grpSp>
        <p:nvGrpSpPr>
          <p:cNvPr name="Group 31" id="31"/>
          <p:cNvGrpSpPr>
            <a:grpSpLocks noChangeAspect="true"/>
          </p:cNvGrpSpPr>
          <p:nvPr/>
        </p:nvGrpSpPr>
        <p:grpSpPr>
          <a:xfrm rot="0">
            <a:off x="4844504" y="7557790"/>
            <a:ext cx="302121" cy="377578"/>
            <a:chOff x="0" y="0"/>
            <a:chExt cx="402828" cy="503437"/>
          </a:xfrm>
        </p:grpSpPr>
        <p:sp>
          <p:nvSpPr>
            <p:cNvPr name="Freeform 32" id="32" descr="preencoded.png"/>
            <p:cNvSpPr/>
            <p:nvPr/>
          </p:nvSpPr>
          <p:spPr>
            <a:xfrm flipH="false" flipV="false" rot="0">
              <a:off x="0" y="0"/>
              <a:ext cx="402844" cy="503428"/>
            </a:xfrm>
            <a:custGeom>
              <a:avLst/>
              <a:gdLst/>
              <a:ahLst/>
              <a:cxnLst/>
              <a:rect r="r" b="b" t="t" l="l"/>
              <a:pathLst>
                <a:path h="503428" w="402844">
                  <a:moveTo>
                    <a:pt x="0" y="0"/>
                  </a:moveTo>
                  <a:lnTo>
                    <a:pt x="402844" y="0"/>
                  </a:lnTo>
                  <a:lnTo>
                    <a:pt x="402844" y="503428"/>
                  </a:lnTo>
                  <a:lnTo>
                    <a:pt x="0" y="503428"/>
                  </a:lnTo>
                  <a:lnTo>
                    <a:pt x="0" y="0"/>
                  </a:lnTo>
                  <a:close/>
                </a:path>
              </a:pathLst>
            </a:custGeom>
            <a:blipFill>
              <a:blip r:embed="rId6"/>
              <a:stretch>
                <a:fillRect l="0" t="-9" r="3" b="-11"/>
              </a:stretch>
            </a:blipFill>
          </p:spPr>
        </p:sp>
      </p:grpSp>
      <p:sp>
        <p:nvSpPr>
          <p:cNvPr name="TextBox 33" id="33"/>
          <p:cNvSpPr txBox="true"/>
          <p:nvPr/>
        </p:nvSpPr>
        <p:spPr>
          <a:xfrm rot="0">
            <a:off x="1177826" y="8197751"/>
            <a:ext cx="2650331" cy="369887"/>
          </a:xfrm>
          <a:prstGeom prst="rect">
            <a:avLst/>
          </a:prstGeom>
        </p:spPr>
        <p:txBody>
          <a:bodyPr anchor="t" rtlCol="false" tIns="0" lIns="0" bIns="0" rIns="0">
            <a:spAutoFit/>
          </a:bodyPr>
          <a:lstStyle/>
          <a:p>
            <a:pPr algn="l">
              <a:lnSpc>
                <a:spcPts val="2562"/>
              </a:lnSpc>
            </a:pPr>
            <a:r>
              <a:rPr lang="en-US" sz="2062" b="true">
                <a:solidFill>
                  <a:srgbClr val="384653"/>
                </a:solidFill>
                <a:latin typeface="Times New Roman MT Bold"/>
                <a:ea typeface="Times New Roman MT Bold"/>
                <a:cs typeface="Times New Roman MT Bold"/>
                <a:sym typeface="Times New Roman MT Bold"/>
              </a:rPr>
              <a:t>Encoder/Decoder</a:t>
            </a:r>
          </a:p>
        </p:txBody>
      </p:sp>
      <p:sp>
        <p:nvSpPr>
          <p:cNvPr name="TextBox 34" id="34"/>
          <p:cNvSpPr txBox="true"/>
          <p:nvPr/>
        </p:nvSpPr>
        <p:spPr>
          <a:xfrm rot="0">
            <a:off x="1177826" y="8621316"/>
            <a:ext cx="7635479" cy="320675"/>
          </a:xfrm>
          <a:prstGeom prst="rect">
            <a:avLst/>
          </a:prstGeom>
        </p:spPr>
        <p:txBody>
          <a:bodyPr anchor="t" rtlCol="false" tIns="0" lIns="0" bIns="0" rIns="0">
            <a:spAutoFit/>
          </a:bodyPr>
          <a:lstStyle/>
          <a:p>
            <a:pPr algn="l">
              <a:lnSpc>
                <a:spcPts val="2499"/>
              </a:lnSpc>
            </a:pPr>
            <a:r>
              <a:rPr lang="en-US" sz="1562">
                <a:solidFill>
                  <a:srgbClr val="384653"/>
                </a:solidFill>
                <a:latin typeface="Times New Roman MT"/>
                <a:ea typeface="Times New Roman MT"/>
                <a:cs typeface="Times New Roman MT"/>
                <a:sym typeface="Times New Roman MT"/>
              </a:rPr>
              <a:t>3 layers each with 8 attention heads and 1024 feedforward dimensions for processing</a:t>
            </a:r>
          </a:p>
        </p:txBody>
      </p:sp>
      <p:grpSp>
        <p:nvGrpSpPr>
          <p:cNvPr name="Group 35" id="35"/>
          <p:cNvGrpSpPr/>
          <p:nvPr/>
        </p:nvGrpSpPr>
        <p:grpSpPr>
          <a:xfrm rot="0">
            <a:off x="9230320" y="7406431"/>
            <a:ext cx="8124081" cy="2188964"/>
            <a:chOff x="0" y="0"/>
            <a:chExt cx="10832108" cy="2918618"/>
          </a:xfrm>
        </p:grpSpPr>
        <p:sp>
          <p:nvSpPr>
            <p:cNvPr name="Freeform 36" id="36"/>
            <p:cNvSpPr/>
            <p:nvPr/>
          </p:nvSpPr>
          <p:spPr>
            <a:xfrm flipH="false" flipV="false" rot="0">
              <a:off x="19050" y="19050"/>
              <a:ext cx="10793985" cy="2880487"/>
            </a:xfrm>
            <a:custGeom>
              <a:avLst/>
              <a:gdLst/>
              <a:ahLst/>
              <a:cxnLst/>
              <a:rect r="r" b="b" t="t" l="l"/>
              <a:pathLst>
                <a:path h="2880487" w="10793985">
                  <a:moveTo>
                    <a:pt x="0" y="402844"/>
                  </a:moveTo>
                  <a:cubicBezTo>
                    <a:pt x="0" y="180340"/>
                    <a:pt x="182118" y="0"/>
                    <a:pt x="406781" y="0"/>
                  </a:cubicBezTo>
                  <a:lnTo>
                    <a:pt x="10387203" y="0"/>
                  </a:lnTo>
                  <a:cubicBezTo>
                    <a:pt x="10611866" y="0"/>
                    <a:pt x="10793985" y="180340"/>
                    <a:pt x="10793985" y="402844"/>
                  </a:cubicBezTo>
                  <a:lnTo>
                    <a:pt x="10793985" y="2477643"/>
                  </a:lnTo>
                  <a:cubicBezTo>
                    <a:pt x="10793985" y="2700147"/>
                    <a:pt x="10611866" y="2880487"/>
                    <a:pt x="10387203" y="2880487"/>
                  </a:cubicBezTo>
                  <a:lnTo>
                    <a:pt x="406781" y="2880487"/>
                  </a:lnTo>
                  <a:cubicBezTo>
                    <a:pt x="182118" y="2880487"/>
                    <a:pt x="0" y="2700147"/>
                    <a:pt x="0" y="2477643"/>
                  </a:cubicBezTo>
                  <a:close/>
                </a:path>
              </a:pathLst>
            </a:custGeom>
            <a:solidFill>
              <a:srgbClr val="FFFFFF"/>
            </a:solidFill>
          </p:spPr>
        </p:sp>
        <p:sp>
          <p:nvSpPr>
            <p:cNvPr name="Freeform 37" id="37"/>
            <p:cNvSpPr/>
            <p:nvPr/>
          </p:nvSpPr>
          <p:spPr>
            <a:xfrm flipH="false" flipV="false" rot="0">
              <a:off x="0" y="0"/>
              <a:ext cx="10832085" cy="2918587"/>
            </a:xfrm>
            <a:custGeom>
              <a:avLst/>
              <a:gdLst/>
              <a:ahLst/>
              <a:cxnLst/>
              <a:rect r="r" b="b" t="t" l="l"/>
              <a:pathLst>
                <a:path h="2918587" w="10832085">
                  <a:moveTo>
                    <a:pt x="0" y="421894"/>
                  </a:moveTo>
                  <a:cubicBezTo>
                    <a:pt x="0" y="188722"/>
                    <a:pt x="190754" y="0"/>
                    <a:pt x="425831" y="0"/>
                  </a:cubicBezTo>
                  <a:lnTo>
                    <a:pt x="10406253" y="0"/>
                  </a:lnTo>
                  <a:lnTo>
                    <a:pt x="10406253" y="19050"/>
                  </a:lnTo>
                  <a:lnTo>
                    <a:pt x="10406253" y="0"/>
                  </a:lnTo>
                  <a:cubicBezTo>
                    <a:pt x="10641203" y="0"/>
                    <a:pt x="10832085" y="188722"/>
                    <a:pt x="10832085" y="421894"/>
                  </a:cubicBezTo>
                  <a:lnTo>
                    <a:pt x="10813035" y="421894"/>
                  </a:lnTo>
                  <a:lnTo>
                    <a:pt x="10832085" y="421894"/>
                  </a:lnTo>
                  <a:lnTo>
                    <a:pt x="10832085" y="2496693"/>
                  </a:lnTo>
                  <a:lnTo>
                    <a:pt x="10813035" y="2496693"/>
                  </a:lnTo>
                  <a:lnTo>
                    <a:pt x="10832085" y="2496693"/>
                  </a:lnTo>
                  <a:cubicBezTo>
                    <a:pt x="10832085" y="2729865"/>
                    <a:pt x="10641330" y="2918587"/>
                    <a:pt x="10406253" y="2918587"/>
                  </a:cubicBezTo>
                  <a:lnTo>
                    <a:pt x="10406253" y="2899537"/>
                  </a:lnTo>
                  <a:lnTo>
                    <a:pt x="10406253" y="2918587"/>
                  </a:lnTo>
                  <a:lnTo>
                    <a:pt x="425831" y="2918587"/>
                  </a:lnTo>
                  <a:lnTo>
                    <a:pt x="425831" y="2899537"/>
                  </a:lnTo>
                  <a:lnTo>
                    <a:pt x="425831" y="2918587"/>
                  </a:lnTo>
                  <a:cubicBezTo>
                    <a:pt x="190754" y="2918587"/>
                    <a:pt x="0" y="2729865"/>
                    <a:pt x="0" y="2496693"/>
                  </a:cubicBezTo>
                  <a:lnTo>
                    <a:pt x="0" y="421894"/>
                  </a:lnTo>
                  <a:lnTo>
                    <a:pt x="19050" y="421894"/>
                  </a:lnTo>
                  <a:lnTo>
                    <a:pt x="0" y="421894"/>
                  </a:lnTo>
                  <a:moveTo>
                    <a:pt x="38100" y="421894"/>
                  </a:moveTo>
                  <a:lnTo>
                    <a:pt x="38100" y="2496693"/>
                  </a:lnTo>
                  <a:lnTo>
                    <a:pt x="19050" y="2496693"/>
                  </a:lnTo>
                  <a:lnTo>
                    <a:pt x="38100" y="2496693"/>
                  </a:lnTo>
                  <a:cubicBezTo>
                    <a:pt x="38100" y="2708529"/>
                    <a:pt x="211455" y="2880487"/>
                    <a:pt x="425831" y="2880487"/>
                  </a:cubicBezTo>
                  <a:lnTo>
                    <a:pt x="10406253" y="2880487"/>
                  </a:lnTo>
                  <a:cubicBezTo>
                    <a:pt x="10620502" y="2880487"/>
                    <a:pt x="10793985" y="2708529"/>
                    <a:pt x="10793985" y="2496693"/>
                  </a:cubicBezTo>
                  <a:lnTo>
                    <a:pt x="10793985" y="421894"/>
                  </a:lnTo>
                  <a:cubicBezTo>
                    <a:pt x="10793984" y="210058"/>
                    <a:pt x="10620629" y="38100"/>
                    <a:pt x="10406253" y="38100"/>
                  </a:cubicBezTo>
                  <a:lnTo>
                    <a:pt x="425831" y="38100"/>
                  </a:lnTo>
                  <a:lnTo>
                    <a:pt x="425831" y="19050"/>
                  </a:lnTo>
                  <a:lnTo>
                    <a:pt x="425831" y="38100"/>
                  </a:lnTo>
                  <a:cubicBezTo>
                    <a:pt x="211455" y="38100"/>
                    <a:pt x="38100" y="210058"/>
                    <a:pt x="38100" y="421894"/>
                  </a:cubicBezTo>
                  <a:close/>
                </a:path>
              </a:pathLst>
            </a:custGeom>
            <a:solidFill>
              <a:srgbClr val="BACFDD"/>
            </a:solidFill>
          </p:spPr>
        </p:sp>
      </p:grpSp>
      <p:grpSp>
        <p:nvGrpSpPr>
          <p:cNvPr name="Group 38" id="38"/>
          <p:cNvGrpSpPr/>
          <p:nvPr/>
        </p:nvGrpSpPr>
        <p:grpSpPr>
          <a:xfrm rot="0">
            <a:off x="9273182" y="7449294"/>
            <a:ext cx="8038356" cy="604242"/>
            <a:chOff x="0" y="0"/>
            <a:chExt cx="10717808" cy="805657"/>
          </a:xfrm>
        </p:grpSpPr>
        <p:sp>
          <p:nvSpPr>
            <p:cNvPr name="Freeform 39" id="39"/>
            <p:cNvSpPr/>
            <p:nvPr/>
          </p:nvSpPr>
          <p:spPr>
            <a:xfrm flipH="false" flipV="false" rot="0">
              <a:off x="0" y="0"/>
              <a:ext cx="10717784" cy="805688"/>
            </a:xfrm>
            <a:custGeom>
              <a:avLst/>
              <a:gdLst/>
              <a:ahLst/>
              <a:cxnLst/>
              <a:rect r="r" b="b" t="t" l="l"/>
              <a:pathLst>
                <a:path h="805688" w="10717784">
                  <a:moveTo>
                    <a:pt x="0" y="357124"/>
                  </a:moveTo>
                  <a:cubicBezTo>
                    <a:pt x="0" y="159893"/>
                    <a:pt x="159893" y="0"/>
                    <a:pt x="357124" y="0"/>
                  </a:cubicBezTo>
                  <a:lnTo>
                    <a:pt x="10360660" y="0"/>
                  </a:lnTo>
                  <a:cubicBezTo>
                    <a:pt x="10557891" y="0"/>
                    <a:pt x="10717784" y="159893"/>
                    <a:pt x="10717784" y="357124"/>
                  </a:cubicBezTo>
                  <a:lnTo>
                    <a:pt x="10717784" y="448564"/>
                  </a:lnTo>
                  <a:cubicBezTo>
                    <a:pt x="10717784" y="645795"/>
                    <a:pt x="10557891" y="805688"/>
                    <a:pt x="10360660" y="805688"/>
                  </a:cubicBezTo>
                  <a:lnTo>
                    <a:pt x="357124" y="805688"/>
                  </a:lnTo>
                  <a:cubicBezTo>
                    <a:pt x="159893" y="805688"/>
                    <a:pt x="0" y="645795"/>
                    <a:pt x="0" y="448564"/>
                  </a:cubicBezTo>
                  <a:close/>
                </a:path>
              </a:pathLst>
            </a:custGeom>
            <a:solidFill>
              <a:srgbClr val="D4E9F7"/>
            </a:solidFill>
          </p:spPr>
        </p:sp>
      </p:grpSp>
      <p:grpSp>
        <p:nvGrpSpPr>
          <p:cNvPr name="Group 40" id="40"/>
          <p:cNvGrpSpPr>
            <a:grpSpLocks noChangeAspect="true"/>
          </p:cNvGrpSpPr>
          <p:nvPr/>
        </p:nvGrpSpPr>
        <p:grpSpPr>
          <a:xfrm rot="0">
            <a:off x="13141226" y="7557790"/>
            <a:ext cx="302121" cy="377578"/>
            <a:chOff x="0" y="0"/>
            <a:chExt cx="402828" cy="503437"/>
          </a:xfrm>
        </p:grpSpPr>
        <p:sp>
          <p:nvSpPr>
            <p:cNvPr name="Freeform 41" id="41" descr="preencoded.png"/>
            <p:cNvSpPr/>
            <p:nvPr/>
          </p:nvSpPr>
          <p:spPr>
            <a:xfrm flipH="false" flipV="false" rot="0">
              <a:off x="0" y="0"/>
              <a:ext cx="402844" cy="503428"/>
            </a:xfrm>
            <a:custGeom>
              <a:avLst/>
              <a:gdLst/>
              <a:ahLst/>
              <a:cxnLst/>
              <a:rect r="r" b="b" t="t" l="l"/>
              <a:pathLst>
                <a:path h="503428" w="402844">
                  <a:moveTo>
                    <a:pt x="0" y="0"/>
                  </a:moveTo>
                  <a:lnTo>
                    <a:pt x="402844" y="0"/>
                  </a:lnTo>
                  <a:lnTo>
                    <a:pt x="402844" y="503428"/>
                  </a:lnTo>
                  <a:lnTo>
                    <a:pt x="0" y="503428"/>
                  </a:lnTo>
                  <a:lnTo>
                    <a:pt x="0" y="0"/>
                  </a:lnTo>
                  <a:close/>
                </a:path>
              </a:pathLst>
            </a:custGeom>
            <a:blipFill>
              <a:blip r:embed="rId7"/>
              <a:stretch>
                <a:fillRect l="0" t="-9" r="3" b="-11"/>
              </a:stretch>
            </a:blipFill>
          </p:spPr>
        </p:sp>
      </p:grpSp>
      <p:sp>
        <p:nvSpPr>
          <p:cNvPr name="TextBox 42" id="42"/>
          <p:cNvSpPr txBox="true"/>
          <p:nvPr/>
        </p:nvSpPr>
        <p:spPr>
          <a:xfrm rot="0">
            <a:off x="9474548" y="8197751"/>
            <a:ext cx="2650331" cy="369887"/>
          </a:xfrm>
          <a:prstGeom prst="rect">
            <a:avLst/>
          </a:prstGeom>
        </p:spPr>
        <p:txBody>
          <a:bodyPr anchor="t" rtlCol="false" tIns="0" lIns="0" bIns="0" rIns="0">
            <a:spAutoFit/>
          </a:bodyPr>
          <a:lstStyle/>
          <a:p>
            <a:pPr algn="l">
              <a:lnSpc>
                <a:spcPts val="2562"/>
              </a:lnSpc>
            </a:pPr>
            <a:r>
              <a:rPr lang="en-US" sz="2062" b="true">
                <a:solidFill>
                  <a:srgbClr val="384653"/>
                </a:solidFill>
                <a:latin typeface="Times New Roman MT Bold"/>
                <a:ea typeface="Times New Roman MT Bold"/>
                <a:cs typeface="Times New Roman MT Bold"/>
                <a:sym typeface="Times New Roman MT Bold"/>
              </a:rPr>
              <a:t>Output Layer</a:t>
            </a:r>
          </a:p>
        </p:txBody>
      </p:sp>
      <p:sp>
        <p:nvSpPr>
          <p:cNvPr name="TextBox 43" id="43"/>
          <p:cNvSpPr txBox="true"/>
          <p:nvPr/>
        </p:nvSpPr>
        <p:spPr>
          <a:xfrm rot="0">
            <a:off x="9474548" y="8621316"/>
            <a:ext cx="7635627" cy="320675"/>
          </a:xfrm>
          <a:prstGeom prst="rect">
            <a:avLst/>
          </a:prstGeom>
        </p:spPr>
        <p:txBody>
          <a:bodyPr anchor="t" rtlCol="false" tIns="0" lIns="0" bIns="0" rIns="0">
            <a:spAutoFit/>
          </a:bodyPr>
          <a:lstStyle/>
          <a:p>
            <a:pPr algn="l">
              <a:lnSpc>
                <a:spcPts val="2499"/>
              </a:lnSpc>
            </a:pPr>
            <a:r>
              <a:rPr lang="en-US" sz="1562">
                <a:solidFill>
                  <a:srgbClr val="384653"/>
                </a:solidFill>
                <a:latin typeface="Times New Roman MT"/>
                <a:ea typeface="Times New Roman MT"/>
                <a:cs typeface="Times New Roman MT"/>
                <a:sym typeface="Times New Roman MT"/>
              </a:rPr>
              <a:t>Linear projection to vocabulary size for generating summary tokens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4313039" y="472853"/>
            <a:ext cx="9661922" cy="869319"/>
          </a:xfrm>
          <a:prstGeom prst="rect">
            <a:avLst/>
          </a:prstGeom>
        </p:spPr>
        <p:txBody>
          <a:bodyPr anchor="t" rtlCol="false" tIns="0" lIns="0" bIns="0" rIns="0">
            <a:spAutoFit/>
          </a:bodyPr>
          <a:lstStyle/>
          <a:p>
            <a:pPr algn="l">
              <a:lnSpc>
                <a:spcPts val="6115"/>
              </a:lnSpc>
            </a:pPr>
            <a:r>
              <a:rPr lang="en-US" sz="4862" b="true">
                <a:solidFill>
                  <a:srgbClr val="2E3C4E"/>
                </a:solidFill>
                <a:latin typeface="Times New Roman MT Bold"/>
                <a:ea typeface="Times New Roman MT Bold"/>
                <a:cs typeface="Times New Roman MT Bold"/>
                <a:sym typeface="Times New Roman MT Bold"/>
              </a:rPr>
              <a:t>Training Process and Configuration</a:t>
            </a:r>
          </a:p>
        </p:txBody>
      </p:sp>
      <p:sp>
        <p:nvSpPr>
          <p:cNvPr name="TextBox 7" id="7"/>
          <p:cNvSpPr txBox="true"/>
          <p:nvPr/>
        </p:nvSpPr>
        <p:spPr>
          <a:xfrm rot="0">
            <a:off x="571030" y="1594701"/>
            <a:ext cx="5541590" cy="549656"/>
          </a:xfrm>
          <a:prstGeom prst="rect">
            <a:avLst/>
          </a:prstGeom>
        </p:spPr>
        <p:txBody>
          <a:bodyPr anchor="t" rtlCol="false" tIns="0" lIns="0" bIns="0" rIns="0">
            <a:spAutoFit/>
          </a:bodyPr>
          <a:lstStyle/>
          <a:p>
            <a:pPr algn="l">
              <a:lnSpc>
                <a:spcPts val="3830"/>
              </a:lnSpc>
            </a:pPr>
            <a:r>
              <a:rPr lang="en-US" sz="3049" b="true">
                <a:solidFill>
                  <a:srgbClr val="2E3C4E"/>
                </a:solidFill>
                <a:latin typeface="Times New Roman MT Bold"/>
                <a:ea typeface="Times New Roman MT Bold"/>
                <a:cs typeface="Times New Roman MT Bold"/>
                <a:sym typeface="Times New Roman MT Bold"/>
              </a:rPr>
              <a:t>Training Setup</a:t>
            </a:r>
          </a:p>
        </p:txBody>
      </p:sp>
      <p:sp>
        <p:nvSpPr>
          <p:cNvPr name="TextBox 8" id="8"/>
          <p:cNvSpPr txBox="true"/>
          <p:nvPr/>
        </p:nvSpPr>
        <p:spPr>
          <a:xfrm rot="0">
            <a:off x="571030" y="2274933"/>
            <a:ext cx="17145642" cy="1084351"/>
          </a:xfrm>
          <a:prstGeom prst="rect">
            <a:avLst/>
          </a:prstGeom>
        </p:spPr>
        <p:txBody>
          <a:bodyPr anchor="t" rtlCol="false" tIns="0" lIns="0" bIns="0" rIns="0">
            <a:spAutoFit/>
          </a:bodyPr>
          <a:lstStyle/>
          <a:p>
            <a:pPr algn="l">
              <a:lnSpc>
                <a:spcPts val="4247"/>
              </a:lnSpc>
            </a:pPr>
            <a:r>
              <a:rPr lang="en-US" sz="2654">
                <a:solidFill>
                  <a:srgbClr val="384653"/>
                </a:solidFill>
                <a:latin typeface="Times New Roman MT"/>
                <a:ea typeface="Times New Roman MT"/>
                <a:cs typeface="Times New Roman MT"/>
                <a:sym typeface="Times New Roman MT"/>
              </a:rPr>
              <a:t>We trained the model for 10 epochs using Adam optimizer with a learning rate of 0.0001. Cross-entropy loss was used as the objective function, with mixed precision training via GradScaler to optimize GPU memory usage.</a:t>
            </a:r>
          </a:p>
        </p:txBody>
      </p:sp>
      <p:sp>
        <p:nvSpPr>
          <p:cNvPr name="TextBox 9" id="9"/>
          <p:cNvSpPr txBox="true"/>
          <p:nvPr/>
        </p:nvSpPr>
        <p:spPr>
          <a:xfrm rot="0">
            <a:off x="571030" y="3678735"/>
            <a:ext cx="17145642" cy="644932"/>
          </a:xfrm>
          <a:prstGeom prst="rect">
            <a:avLst/>
          </a:prstGeom>
        </p:spPr>
        <p:txBody>
          <a:bodyPr anchor="t" rtlCol="false" tIns="0" lIns="0" bIns="0" rIns="0">
            <a:spAutoFit/>
          </a:bodyPr>
          <a:lstStyle/>
          <a:p>
            <a:pPr algn="l">
              <a:lnSpc>
                <a:spcPts val="4887"/>
              </a:lnSpc>
            </a:pPr>
            <a:r>
              <a:rPr lang="en-US" sz="3054" b="true">
                <a:solidFill>
                  <a:srgbClr val="384653"/>
                </a:solidFill>
                <a:latin typeface="Times New Roman MT Bold"/>
                <a:ea typeface="Times New Roman MT Bold"/>
                <a:cs typeface="Times New Roman MT Bold"/>
                <a:sym typeface="Times New Roman MT Bold"/>
              </a:rPr>
              <a:t>Configuration details:</a:t>
            </a:r>
          </a:p>
        </p:txBody>
      </p:sp>
      <p:sp>
        <p:nvSpPr>
          <p:cNvPr name="TextBox 10" id="10"/>
          <p:cNvSpPr txBox="true"/>
          <p:nvPr/>
        </p:nvSpPr>
        <p:spPr>
          <a:xfrm rot="0">
            <a:off x="571030" y="4306866"/>
            <a:ext cx="17145642" cy="644932"/>
          </a:xfrm>
          <a:prstGeom prst="rect">
            <a:avLst/>
          </a:prstGeom>
        </p:spPr>
        <p:txBody>
          <a:bodyPr anchor="t" rtlCol="false" tIns="0" lIns="0" bIns="0" rIns="0">
            <a:spAutoFit/>
          </a:bodyPr>
          <a:lstStyle/>
          <a:p>
            <a:pPr algn="l" marL="460656" indent="-230328" lvl="1">
              <a:lnSpc>
                <a:spcPts val="4887"/>
              </a:lnSpc>
              <a:buFont typeface="Arial"/>
              <a:buChar char="•"/>
            </a:pPr>
            <a:r>
              <a:rPr lang="en-US" sz="3054">
                <a:solidFill>
                  <a:srgbClr val="384653"/>
                </a:solidFill>
                <a:latin typeface="Times New Roman MT"/>
                <a:ea typeface="Times New Roman MT"/>
                <a:cs typeface="Times New Roman MT"/>
                <a:sym typeface="Times New Roman MT"/>
              </a:rPr>
              <a:t>Batch size: 4 (optimized for Colab GPU)</a:t>
            </a:r>
          </a:p>
        </p:txBody>
      </p:sp>
      <p:sp>
        <p:nvSpPr>
          <p:cNvPr name="TextBox 11" id="11"/>
          <p:cNvSpPr txBox="true"/>
          <p:nvPr/>
        </p:nvSpPr>
        <p:spPr>
          <a:xfrm rot="0">
            <a:off x="571030" y="4796860"/>
            <a:ext cx="17145642" cy="644932"/>
          </a:xfrm>
          <a:prstGeom prst="rect">
            <a:avLst/>
          </a:prstGeom>
        </p:spPr>
        <p:txBody>
          <a:bodyPr anchor="t" rtlCol="false" tIns="0" lIns="0" bIns="0" rIns="0">
            <a:spAutoFit/>
          </a:bodyPr>
          <a:lstStyle/>
          <a:p>
            <a:pPr algn="l" marL="460656" indent="-230328" lvl="1">
              <a:lnSpc>
                <a:spcPts val="4887"/>
              </a:lnSpc>
              <a:buFont typeface="Arial"/>
              <a:buChar char="•"/>
            </a:pPr>
            <a:r>
              <a:rPr lang="en-US" sz="3054">
                <a:solidFill>
                  <a:srgbClr val="384653"/>
                </a:solidFill>
                <a:latin typeface="Times New Roman MT"/>
                <a:ea typeface="Times New Roman MT"/>
                <a:cs typeface="Times New Roman MT"/>
                <a:sym typeface="Times New Roman MT"/>
              </a:rPr>
              <a:t>Optimizer: Adam (lr=0.0001)</a:t>
            </a:r>
          </a:p>
        </p:txBody>
      </p:sp>
      <p:sp>
        <p:nvSpPr>
          <p:cNvPr name="TextBox 12" id="12"/>
          <p:cNvSpPr txBox="true"/>
          <p:nvPr/>
        </p:nvSpPr>
        <p:spPr>
          <a:xfrm rot="0">
            <a:off x="571030" y="5286855"/>
            <a:ext cx="17145642" cy="644932"/>
          </a:xfrm>
          <a:prstGeom prst="rect">
            <a:avLst/>
          </a:prstGeom>
        </p:spPr>
        <p:txBody>
          <a:bodyPr anchor="t" rtlCol="false" tIns="0" lIns="0" bIns="0" rIns="0">
            <a:spAutoFit/>
          </a:bodyPr>
          <a:lstStyle/>
          <a:p>
            <a:pPr algn="l" marL="460656" indent="-230328" lvl="1">
              <a:lnSpc>
                <a:spcPts val="4887"/>
              </a:lnSpc>
              <a:buFont typeface="Arial"/>
              <a:buChar char="•"/>
            </a:pPr>
            <a:r>
              <a:rPr lang="en-US" sz="3054">
                <a:solidFill>
                  <a:srgbClr val="384653"/>
                </a:solidFill>
                <a:latin typeface="Times New Roman MT"/>
                <a:ea typeface="Times New Roman MT"/>
                <a:cs typeface="Times New Roman MT"/>
                <a:sym typeface="Times New Roman MT"/>
              </a:rPr>
              <a:t>Loss function: Cross-Entropy</a:t>
            </a:r>
          </a:p>
        </p:txBody>
      </p:sp>
      <p:sp>
        <p:nvSpPr>
          <p:cNvPr name="TextBox 13" id="13"/>
          <p:cNvSpPr txBox="true"/>
          <p:nvPr/>
        </p:nvSpPr>
        <p:spPr>
          <a:xfrm rot="0">
            <a:off x="571030" y="5776849"/>
            <a:ext cx="17145642" cy="644932"/>
          </a:xfrm>
          <a:prstGeom prst="rect">
            <a:avLst/>
          </a:prstGeom>
        </p:spPr>
        <p:txBody>
          <a:bodyPr anchor="t" rtlCol="false" tIns="0" lIns="0" bIns="0" rIns="0">
            <a:spAutoFit/>
          </a:bodyPr>
          <a:lstStyle/>
          <a:p>
            <a:pPr algn="l" marL="460656" indent="-230328" lvl="1">
              <a:lnSpc>
                <a:spcPts val="4887"/>
              </a:lnSpc>
              <a:buFont typeface="Arial"/>
              <a:buChar char="•"/>
            </a:pPr>
            <a:r>
              <a:rPr lang="en-US" sz="3054">
                <a:solidFill>
                  <a:srgbClr val="384653"/>
                </a:solidFill>
                <a:latin typeface="Times New Roman MT"/>
                <a:ea typeface="Times New Roman MT"/>
                <a:cs typeface="Times New Roman MT"/>
                <a:sym typeface="Times New Roman MT"/>
              </a:rPr>
              <a:t>Mixed precision training enabled</a:t>
            </a:r>
          </a:p>
        </p:txBody>
      </p:sp>
      <p:sp>
        <p:nvSpPr>
          <p:cNvPr name="TextBox 14" id="14"/>
          <p:cNvSpPr txBox="true"/>
          <p:nvPr/>
        </p:nvSpPr>
        <p:spPr>
          <a:xfrm rot="0">
            <a:off x="571030" y="6266844"/>
            <a:ext cx="17145642" cy="644932"/>
          </a:xfrm>
          <a:prstGeom prst="rect">
            <a:avLst/>
          </a:prstGeom>
        </p:spPr>
        <p:txBody>
          <a:bodyPr anchor="t" rtlCol="false" tIns="0" lIns="0" bIns="0" rIns="0">
            <a:spAutoFit/>
          </a:bodyPr>
          <a:lstStyle/>
          <a:p>
            <a:pPr algn="l" marL="460656" indent="-230328" lvl="1">
              <a:lnSpc>
                <a:spcPts val="4887"/>
              </a:lnSpc>
              <a:buFont typeface="Arial"/>
              <a:buChar char="•"/>
            </a:pPr>
            <a:r>
              <a:rPr lang="en-US" sz="3054">
                <a:solidFill>
                  <a:srgbClr val="384653"/>
                </a:solidFill>
                <a:latin typeface="Times New Roman MT"/>
                <a:ea typeface="Times New Roman MT"/>
                <a:cs typeface="Times New Roman MT"/>
                <a:sym typeface="Times New Roman MT"/>
              </a:rPr>
              <a:t>Shuffle enabled for training data</a:t>
            </a:r>
          </a:p>
        </p:txBody>
      </p:sp>
      <p:sp>
        <p:nvSpPr>
          <p:cNvPr name="TextBox 15" id="15"/>
          <p:cNvSpPr txBox="true"/>
          <p:nvPr/>
        </p:nvSpPr>
        <p:spPr>
          <a:xfrm rot="0">
            <a:off x="803225" y="7779941"/>
            <a:ext cx="5392936" cy="788988"/>
          </a:xfrm>
          <a:prstGeom prst="rect">
            <a:avLst/>
          </a:prstGeom>
        </p:spPr>
        <p:txBody>
          <a:bodyPr anchor="t" rtlCol="false" tIns="0" lIns="0" bIns="0" rIns="0">
            <a:spAutoFit/>
          </a:bodyPr>
          <a:lstStyle/>
          <a:p>
            <a:pPr algn="ctr">
              <a:lnSpc>
                <a:spcPts val="5187"/>
              </a:lnSpc>
            </a:pPr>
            <a:r>
              <a:rPr lang="en-US" sz="5187" b="true">
                <a:solidFill>
                  <a:srgbClr val="384653"/>
                </a:solidFill>
                <a:latin typeface="Times New Roman MT Bold"/>
                <a:ea typeface="Times New Roman MT Bold"/>
                <a:cs typeface="Times New Roman MT Bold"/>
                <a:sym typeface="Times New Roman MT Bold"/>
              </a:rPr>
              <a:t>10</a:t>
            </a:r>
          </a:p>
        </p:txBody>
      </p:sp>
      <p:sp>
        <p:nvSpPr>
          <p:cNvPr name="TextBox 16" id="16"/>
          <p:cNvSpPr txBox="true"/>
          <p:nvPr/>
        </p:nvSpPr>
        <p:spPr>
          <a:xfrm rot="0">
            <a:off x="2178249" y="8626922"/>
            <a:ext cx="2642890" cy="471430"/>
          </a:xfrm>
          <a:prstGeom prst="rect">
            <a:avLst/>
          </a:prstGeom>
        </p:spPr>
        <p:txBody>
          <a:bodyPr anchor="t" rtlCol="false" tIns="0" lIns="0" bIns="0" rIns="0">
            <a:spAutoFit/>
          </a:bodyPr>
          <a:lstStyle/>
          <a:p>
            <a:pPr algn="ctr">
              <a:lnSpc>
                <a:spcPts val="3307"/>
              </a:lnSpc>
            </a:pPr>
            <a:r>
              <a:rPr lang="en-US" sz="2662" b="true">
                <a:solidFill>
                  <a:srgbClr val="384653"/>
                </a:solidFill>
                <a:latin typeface="Times New Roman MT Bold"/>
                <a:ea typeface="Times New Roman MT Bold"/>
                <a:cs typeface="Times New Roman MT Bold"/>
                <a:sym typeface="Times New Roman MT Bold"/>
              </a:rPr>
              <a:t>Training Epochs</a:t>
            </a:r>
          </a:p>
        </p:txBody>
      </p:sp>
      <p:sp>
        <p:nvSpPr>
          <p:cNvPr name="TextBox 17" id="17"/>
          <p:cNvSpPr txBox="true"/>
          <p:nvPr/>
        </p:nvSpPr>
        <p:spPr>
          <a:xfrm rot="0">
            <a:off x="803225" y="9020572"/>
            <a:ext cx="5392936" cy="452121"/>
          </a:xfrm>
          <a:prstGeom prst="rect">
            <a:avLst/>
          </a:prstGeom>
        </p:spPr>
        <p:txBody>
          <a:bodyPr anchor="t" rtlCol="false" tIns="0" lIns="0" bIns="0" rIns="0">
            <a:spAutoFit/>
          </a:bodyPr>
          <a:lstStyle/>
          <a:p>
            <a:pPr algn="ctr">
              <a:lnSpc>
                <a:spcPts val="3459"/>
              </a:lnSpc>
            </a:pPr>
            <a:r>
              <a:rPr lang="en-US" sz="2162">
                <a:solidFill>
                  <a:srgbClr val="384653"/>
                </a:solidFill>
                <a:latin typeface="Times New Roman MT"/>
                <a:ea typeface="Times New Roman MT"/>
                <a:cs typeface="Times New Roman MT"/>
                <a:sym typeface="Times New Roman MT"/>
              </a:rPr>
              <a:t>Complete training cycles through dataset</a:t>
            </a:r>
          </a:p>
        </p:txBody>
      </p:sp>
      <p:sp>
        <p:nvSpPr>
          <p:cNvPr name="TextBox 18" id="18"/>
          <p:cNvSpPr txBox="true"/>
          <p:nvPr/>
        </p:nvSpPr>
        <p:spPr>
          <a:xfrm rot="0">
            <a:off x="6447235" y="7779941"/>
            <a:ext cx="5393085" cy="788988"/>
          </a:xfrm>
          <a:prstGeom prst="rect">
            <a:avLst/>
          </a:prstGeom>
        </p:spPr>
        <p:txBody>
          <a:bodyPr anchor="t" rtlCol="false" tIns="0" lIns="0" bIns="0" rIns="0">
            <a:spAutoFit/>
          </a:bodyPr>
          <a:lstStyle/>
          <a:p>
            <a:pPr algn="ctr">
              <a:lnSpc>
                <a:spcPts val="5187"/>
              </a:lnSpc>
            </a:pPr>
            <a:r>
              <a:rPr lang="en-US" sz="5187" b="true">
                <a:solidFill>
                  <a:srgbClr val="384653"/>
                </a:solidFill>
                <a:latin typeface="Times New Roman MT Bold"/>
                <a:ea typeface="Times New Roman MT Bold"/>
                <a:cs typeface="Times New Roman MT Bold"/>
                <a:sym typeface="Times New Roman MT Bold"/>
              </a:rPr>
              <a:t>4</a:t>
            </a:r>
          </a:p>
        </p:txBody>
      </p:sp>
      <p:sp>
        <p:nvSpPr>
          <p:cNvPr name="TextBox 19" id="19"/>
          <p:cNvSpPr txBox="true"/>
          <p:nvPr/>
        </p:nvSpPr>
        <p:spPr>
          <a:xfrm rot="0">
            <a:off x="7822258" y="8626922"/>
            <a:ext cx="2642890" cy="471430"/>
          </a:xfrm>
          <a:prstGeom prst="rect">
            <a:avLst/>
          </a:prstGeom>
        </p:spPr>
        <p:txBody>
          <a:bodyPr anchor="t" rtlCol="false" tIns="0" lIns="0" bIns="0" rIns="0">
            <a:spAutoFit/>
          </a:bodyPr>
          <a:lstStyle/>
          <a:p>
            <a:pPr algn="ctr">
              <a:lnSpc>
                <a:spcPts val="3307"/>
              </a:lnSpc>
            </a:pPr>
            <a:r>
              <a:rPr lang="en-US" sz="2662" b="true">
                <a:solidFill>
                  <a:srgbClr val="384653"/>
                </a:solidFill>
                <a:latin typeface="Times New Roman MT Bold"/>
                <a:ea typeface="Times New Roman MT Bold"/>
                <a:cs typeface="Times New Roman MT Bold"/>
                <a:sym typeface="Times New Roman MT Bold"/>
              </a:rPr>
              <a:t>Batch Size</a:t>
            </a:r>
          </a:p>
        </p:txBody>
      </p:sp>
      <p:sp>
        <p:nvSpPr>
          <p:cNvPr name="TextBox 20" id="20"/>
          <p:cNvSpPr txBox="true"/>
          <p:nvPr/>
        </p:nvSpPr>
        <p:spPr>
          <a:xfrm rot="0">
            <a:off x="6447235" y="9020572"/>
            <a:ext cx="5393085" cy="452121"/>
          </a:xfrm>
          <a:prstGeom prst="rect">
            <a:avLst/>
          </a:prstGeom>
        </p:spPr>
        <p:txBody>
          <a:bodyPr anchor="t" rtlCol="false" tIns="0" lIns="0" bIns="0" rIns="0">
            <a:spAutoFit/>
          </a:bodyPr>
          <a:lstStyle/>
          <a:p>
            <a:pPr algn="ctr">
              <a:lnSpc>
                <a:spcPts val="3459"/>
              </a:lnSpc>
            </a:pPr>
            <a:r>
              <a:rPr lang="en-US" sz="2162">
                <a:solidFill>
                  <a:srgbClr val="384653"/>
                </a:solidFill>
                <a:latin typeface="Times New Roman MT"/>
                <a:ea typeface="Times New Roman MT"/>
                <a:cs typeface="Times New Roman MT"/>
                <a:sym typeface="Times New Roman MT"/>
              </a:rPr>
              <a:t>Samples processed simultaneously</a:t>
            </a:r>
          </a:p>
        </p:txBody>
      </p:sp>
      <p:sp>
        <p:nvSpPr>
          <p:cNvPr name="TextBox 21" id="21"/>
          <p:cNvSpPr txBox="true"/>
          <p:nvPr/>
        </p:nvSpPr>
        <p:spPr>
          <a:xfrm rot="0">
            <a:off x="12091392" y="7779941"/>
            <a:ext cx="5393085" cy="788988"/>
          </a:xfrm>
          <a:prstGeom prst="rect">
            <a:avLst/>
          </a:prstGeom>
        </p:spPr>
        <p:txBody>
          <a:bodyPr anchor="t" rtlCol="false" tIns="0" lIns="0" bIns="0" rIns="0">
            <a:spAutoFit/>
          </a:bodyPr>
          <a:lstStyle/>
          <a:p>
            <a:pPr algn="ctr">
              <a:lnSpc>
                <a:spcPts val="5187"/>
              </a:lnSpc>
            </a:pPr>
            <a:r>
              <a:rPr lang="en-US" sz="5187" b="true">
                <a:solidFill>
                  <a:srgbClr val="384653"/>
                </a:solidFill>
                <a:latin typeface="Times New Roman MT Bold"/>
                <a:ea typeface="Times New Roman MT Bold"/>
                <a:cs typeface="Times New Roman MT Bold"/>
                <a:sym typeface="Times New Roman MT Bold"/>
              </a:rPr>
              <a:t>5K</a:t>
            </a:r>
          </a:p>
        </p:txBody>
      </p:sp>
      <p:sp>
        <p:nvSpPr>
          <p:cNvPr name="TextBox 22" id="22"/>
          <p:cNvSpPr txBox="true"/>
          <p:nvPr/>
        </p:nvSpPr>
        <p:spPr>
          <a:xfrm rot="0">
            <a:off x="13466415" y="8626922"/>
            <a:ext cx="2642890" cy="471430"/>
          </a:xfrm>
          <a:prstGeom prst="rect">
            <a:avLst/>
          </a:prstGeom>
        </p:spPr>
        <p:txBody>
          <a:bodyPr anchor="t" rtlCol="false" tIns="0" lIns="0" bIns="0" rIns="0">
            <a:spAutoFit/>
          </a:bodyPr>
          <a:lstStyle/>
          <a:p>
            <a:pPr algn="ctr">
              <a:lnSpc>
                <a:spcPts val="3307"/>
              </a:lnSpc>
            </a:pPr>
            <a:r>
              <a:rPr lang="en-US" sz="2662" b="true">
                <a:solidFill>
                  <a:srgbClr val="384653"/>
                </a:solidFill>
                <a:latin typeface="Times New Roman MT Bold"/>
                <a:ea typeface="Times New Roman MT Bold"/>
                <a:cs typeface="Times New Roman MT Bold"/>
                <a:sym typeface="Times New Roman MT Bold"/>
              </a:rPr>
              <a:t>Dataset Size</a:t>
            </a:r>
          </a:p>
        </p:txBody>
      </p:sp>
      <p:sp>
        <p:nvSpPr>
          <p:cNvPr name="TextBox 23" id="23"/>
          <p:cNvSpPr txBox="true"/>
          <p:nvPr/>
        </p:nvSpPr>
        <p:spPr>
          <a:xfrm rot="0">
            <a:off x="12091392" y="9020572"/>
            <a:ext cx="5393085" cy="452121"/>
          </a:xfrm>
          <a:prstGeom prst="rect">
            <a:avLst/>
          </a:prstGeom>
        </p:spPr>
        <p:txBody>
          <a:bodyPr anchor="t" rtlCol="false" tIns="0" lIns="0" bIns="0" rIns="0">
            <a:spAutoFit/>
          </a:bodyPr>
          <a:lstStyle/>
          <a:p>
            <a:pPr algn="ctr">
              <a:lnSpc>
                <a:spcPts val="3459"/>
              </a:lnSpc>
            </a:pPr>
            <a:r>
              <a:rPr lang="en-US" sz="2162">
                <a:solidFill>
                  <a:srgbClr val="384653"/>
                </a:solidFill>
                <a:latin typeface="Times New Roman MT"/>
                <a:ea typeface="Times New Roman MT"/>
                <a:cs typeface="Times New Roman MT"/>
                <a:sym typeface="Times New Roman MT"/>
              </a:rPr>
              <a:t>Medical transcription samples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47886" y="688776"/>
            <a:ext cx="5898654" cy="593725"/>
          </a:xfrm>
          <a:prstGeom prst="rect">
            <a:avLst/>
          </a:prstGeom>
        </p:spPr>
        <p:txBody>
          <a:bodyPr anchor="t" rtlCol="false" tIns="0" lIns="0" bIns="0" rIns="0">
            <a:spAutoFit/>
          </a:bodyPr>
          <a:lstStyle/>
          <a:p>
            <a:pPr algn="l">
              <a:lnSpc>
                <a:spcPts val="4249"/>
              </a:lnSpc>
            </a:pPr>
            <a:r>
              <a:rPr lang="en-US" sz="3374" b="true">
                <a:solidFill>
                  <a:srgbClr val="2E3C4E"/>
                </a:solidFill>
                <a:latin typeface="Times New Roman MT Bold"/>
                <a:ea typeface="Times New Roman MT Bold"/>
                <a:cs typeface="Times New Roman MT Bold"/>
                <a:sym typeface="Times New Roman MT Bold"/>
              </a:rPr>
              <a:t>Evaluation Metrics and Results</a:t>
            </a:r>
          </a:p>
        </p:txBody>
      </p:sp>
      <p:sp>
        <p:nvSpPr>
          <p:cNvPr name="TextBox 7" id="7"/>
          <p:cNvSpPr txBox="true"/>
          <p:nvPr/>
        </p:nvSpPr>
        <p:spPr>
          <a:xfrm rot="0">
            <a:off x="947886" y="1518494"/>
            <a:ext cx="16392228" cy="873444"/>
          </a:xfrm>
          <a:prstGeom prst="rect">
            <a:avLst/>
          </a:prstGeom>
        </p:spPr>
        <p:txBody>
          <a:bodyPr anchor="t" rtlCol="false" tIns="0" lIns="0" bIns="0" rIns="0">
            <a:spAutoFit/>
          </a:bodyPr>
          <a:lstStyle/>
          <a:p>
            <a:pPr algn="l">
              <a:lnSpc>
                <a:spcPts val="3382"/>
              </a:lnSpc>
            </a:pPr>
            <a:r>
              <a:rPr lang="en-US" sz="2049">
                <a:solidFill>
                  <a:srgbClr val="384653"/>
                </a:solidFill>
                <a:latin typeface="Times New Roman MT"/>
                <a:ea typeface="Times New Roman MT"/>
                <a:cs typeface="Times New Roman MT"/>
                <a:sym typeface="Times New Roman MT"/>
              </a:rPr>
              <a:t>Model performance was assessed using ROUGE (Recall-Oriented Understudy for Gisting Evaluation) metrics, which measure the overlap between generated summaries and reference summaries. Results reflect the challenges of training from scratch on a small dataset without pre-training.</a:t>
            </a:r>
          </a:p>
        </p:txBody>
      </p:sp>
      <p:grpSp>
        <p:nvGrpSpPr>
          <p:cNvPr name="Group 8" id="8"/>
          <p:cNvGrpSpPr>
            <a:grpSpLocks noChangeAspect="true"/>
          </p:cNvGrpSpPr>
          <p:nvPr/>
        </p:nvGrpSpPr>
        <p:grpSpPr>
          <a:xfrm rot="0">
            <a:off x="3236053" y="2473882"/>
            <a:ext cx="11474500" cy="6425654"/>
            <a:chOff x="0" y="0"/>
            <a:chExt cx="15299333" cy="8567538"/>
          </a:xfrm>
        </p:grpSpPr>
        <p:sp>
          <p:nvSpPr>
            <p:cNvPr name="Freeform 9" id="9" descr="preencoded.png"/>
            <p:cNvSpPr/>
            <p:nvPr/>
          </p:nvSpPr>
          <p:spPr>
            <a:xfrm flipH="false" flipV="false" rot="0">
              <a:off x="0" y="0"/>
              <a:ext cx="15299310" cy="8567547"/>
            </a:xfrm>
            <a:custGeom>
              <a:avLst/>
              <a:gdLst/>
              <a:ahLst/>
              <a:cxnLst/>
              <a:rect r="r" b="b" t="t" l="l"/>
              <a:pathLst>
                <a:path h="8567547" w="15299310">
                  <a:moveTo>
                    <a:pt x="0" y="0"/>
                  </a:moveTo>
                  <a:lnTo>
                    <a:pt x="15299310" y="0"/>
                  </a:lnTo>
                  <a:lnTo>
                    <a:pt x="15299310" y="8567547"/>
                  </a:lnTo>
                  <a:lnTo>
                    <a:pt x="0" y="8567547"/>
                  </a:lnTo>
                  <a:lnTo>
                    <a:pt x="0" y="0"/>
                  </a:lnTo>
                  <a:close/>
                </a:path>
              </a:pathLst>
            </a:custGeom>
            <a:blipFill>
              <a:blip r:embed="rId4"/>
              <a:stretch>
                <a:fillRect l="0" t="-15" r="0" b="-15"/>
              </a:stretch>
            </a:blipFill>
          </p:spPr>
        </p:sp>
      </p:grpSp>
      <p:sp>
        <p:nvSpPr>
          <p:cNvPr name="TextBox 10" id="10"/>
          <p:cNvSpPr txBox="true"/>
          <p:nvPr/>
        </p:nvSpPr>
        <p:spPr>
          <a:xfrm rot="0">
            <a:off x="947886" y="8848130"/>
            <a:ext cx="16392228" cy="873444"/>
          </a:xfrm>
          <a:prstGeom prst="rect">
            <a:avLst/>
          </a:prstGeom>
        </p:spPr>
        <p:txBody>
          <a:bodyPr anchor="t" rtlCol="false" tIns="0" lIns="0" bIns="0" rIns="0">
            <a:spAutoFit/>
          </a:bodyPr>
          <a:lstStyle/>
          <a:p>
            <a:pPr algn="l">
              <a:lnSpc>
                <a:spcPts val="3382"/>
              </a:lnSpc>
            </a:pPr>
            <a:r>
              <a:rPr lang="en-US" sz="2049">
                <a:solidFill>
                  <a:srgbClr val="384653"/>
                </a:solidFill>
                <a:latin typeface="Times New Roman MT"/>
                <a:ea typeface="Times New Roman MT"/>
                <a:cs typeface="Times New Roman MT"/>
                <a:sym typeface="Times New Roman MT"/>
              </a:rPr>
              <a:t>ROUGE-1 measures unigram overlap, ROUGE-2 measures bigram overlap, and ROUGE-L measures longest common subsequence. Scores of 0.25-0.35 are expected for models trained from scratch on limited medical data without pre-training on large corpora.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1024804" cy="10287000"/>
            <a:chOff x="0" y="0"/>
            <a:chExt cx="14699738" cy="13716000"/>
          </a:xfrm>
        </p:grpSpPr>
        <p:sp>
          <p:nvSpPr>
            <p:cNvPr name="Freeform 5" id="5"/>
            <p:cNvSpPr/>
            <p:nvPr/>
          </p:nvSpPr>
          <p:spPr>
            <a:xfrm flipH="false" flipV="false" rot="0">
              <a:off x="0" y="0"/>
              <a:ext cx="14699738" cy="13716000"/>
            </a:xfrm>
            <a:custGeom>
              <a:avLst/>
              <a:gdLst/>
              <a:ahLst/>
              <a:cxnLst/>
              <a:rect r="r" b="b" t="t" l="l"/>
              <a:pathLst>
                <a:path h="13716000" w="14699738">
                  <a:moveTo>
                    <a:pt x="0" y="0"/>
                  </a:moveTo>
                  <a:lnTo>
                    <a:pt x="14699738" y="0"/>
                  </a:lnTo>
                  <a:lnTo>
                    <a:pt x="14699738" y="13716000"/>
                  </a:lnTo>
                  <a:lnTo>
                    <a:pt x="0" y="13716000"/>
                  </a:lnTo>
                  <a:close/>
                </a:path>
              </a:pathLst>
            </a:custGeom>
            <a:solidFill>
              <a:srgbClr val="FFFFFF"/>
            </a:solidFill>
          </p:spPr>
        </p:sp>
      </p:grpSp>
      <p:sp>
        <p:nvSpPr>
          <p:cNvPr name="TextBox 6" id="6"/>
          <p:cNvSpPr txBox="true"/>
          <p:nvPr/>
        </p:nvSpPr>
        <p:spPr>
          <a:xfrm rot="0">
            <a:off x="947886" y="712589"/>
            <a:ext cx="9534228" cy="814388"/>
          </a:xfrm>
          <a:prstGeom prst="rect">
            <a:avLst/>
          </a:prstGeom>
        </p:spPr>
        <p:txBody>
          <a:bodyPr anchor="t" rtlCol="false" tIns="0" lIns="0" bIns="0" rIns="0">
            <a:spAutoFit/>
          </a:bodyPr>
          <a:lstStyle/>
          <a:p>
            <a:pPr algn="l">
              <a:lnSpc>
                <a:spcPts val="5812"/>
              </a:lnSpc>
            </a:pPr>
            <a:r>
              <a:rPr lang="en-US" sz="4625" b="true">
                <a:solidFill>
                  <a:srgbClr val="2E3C4E"/>
                </a:solidFill>
                <a:latin typeface="Times New Roman MT Bold"/>
                <a:ea typeface="Times New Roman MT Bold"/>
                <a:cs typeface="Times New Roman MT Bold"/>
                <a:sym typeface="Times New Roman MT Bold"/>
              </a:rPr>
              <a:t>Inference System and User Interface</a:t>
            </a:r>
          </a:p>
        </p:txBody>
      </p:sp>
      <p:grpSp>
        <p:nvGrpSpPr>
          <p:cNvPr name="Group 7" id="7"/>
          <p:cNvGrpSpPr/>
          <p:nvPr/>
        </p:nvGrpSpPr>
        <p:grpSpPr>
          <a:xfrm rot="0">
            <a:off x="1201043" y="2215232"/>
            <a:ext cx="28575" cy="5120729"/>
            <a:chOff x="0" y="0"/>
            <a:chExt cx="38100" cy="6827638"/>
          </a:xfrm>
        </p:grpSpPr>
        <p:sp>
          <p:nvSpPr>
            <p:cNvPr name="Freeform 8" id="8"/>
            <p:cNvSpPr/>
            <p:nvPr/>
          </p:nvSpPr>
          <p:spPr>
            <a:xfrm flipH="false" flipV="false" rot="0">
              <a:off x="0" y="0"/>
              <a:ext cx="38100" cy="6827647"/>
            </a:xfrm>
            <a:custGeom>
              <a:avLst/>
              <a:gdLst/>
              <a:ahLst/>
              <a:cxnLst/>
              <a:rect r="r" b="b" t="t" l="l"/>
              <a:pathLst>
                <a:path h="6827647" w="38100">
                  <a:moveTo>
                    <a:pt x="0" y="19050"/>
                  </a:moveTo>
                  <a:cubicBezTo>
                    <a:pt x="0" y="8509"/>
                    <a:pt x="8509" y="0"/>
                    <a:pt x="19050" y="0"/>
                  </a:cubicBezTo>
                  <a:cubicBezTo>
                    <a:pt x="29591" y="0"/>
                    <a:pt x="38100" y="8509"/>
                    <a:pt x="38100" y="19050"/>
                  </a:cubicBezTo>
                  <a:lnTo>
                    <a:pt x="38100" y="6808597"/>
                  </a:lnTo>
                  <a:cubicBezTo>
                    <a:pt x="38100" y="6819138"/>
                    <a:pt x="29591" y="6827647"/>
                    <a:pt x="19050" y="6827647"/>
                  </a:cubicBezTo>
                  <a:cubicBezTo>
                    <a:pt x="8509" y="6827647"/>
                    <a:pt x="0" y="6819138"/>
                    <a:pt x="0" y="6808597"/>
                  </a:cubicBezTo>
                  <a:close/>
                </a:path>
              </a:pathLst>
            </a:custGeom>
            <a:solidFill>
              <a:srgbClr val="BACFDD"/>
            </a:solidFill>
          </p:spPr>
        </p:sp>
      </p:grpSp>
      <p:grpSp>
        <p:nvGrpSpPr>
          <p:cNvPr name="Group 9" id="9"/>
          <p:cNvGrpSpPr/>
          <p:nvPr/>
        </p:nvGrpSpPr>
        <p:grpSpPr>
          <a:xfrm rot="0">
            <a:off x="1425699" y="2454101"/>
            <a:ext cx="675234" cy="28575"/>
            <a:chOff x="0" y="0"/>
            <a:chExt cx="900312" cy="38100"/>
          </a:xfrm>
        </p:grpSpPr>
        <p:sp>
          <p:nvSpPr>
            <p:cNvPr name="Freeform 10" id="10"/>
            <p:cNvSpPr/>
            <p:nvPr/>
          </p:nvSpPr>
          <p:spPr>
            <a:xfrm flipH="false" flipV="false" rot="0">
              <a:off x="0" y="0"/>
              <a:ext cx="900303" cy="38100"/>
            </a:xfrm>
            <a:custGeom>
              <a:avLst/>
              <a:gdLst/>
              <a:ahLst/>
              <a:cxnLst/>
              <a:rect r="r" b="b" t="t" l="l"/>
              <a:pathLst>
                <a:path h="38100" w="900303">
                  <a:moveTo>
                    <a:pt x="0" y="19050"/>
                  </a:moveTo>
                  <a:cubicBezTo>
                    <a:pt x="0" y="8509"/>
                    <a:pt x="8509" y="0"/>
                    <a:pt x="19050" y="0"/>
                  </a:cubicBezTo>
                  <a:lnTo>
                    <a:pt x="881253" y="0"/>
                  </a:lnTo>
                  <a:cubicBezTo>
                    <a:pt x="891794" y="0"/>
                    <a:pt x="900303" y="8509"/>
                    <a:pt x="900303" y="19050"/>
                  </a:cubicBezTo>
                  <a:cubicBezTo>
                    <a:pt x="900303" y="29591"/>
                    <a:pt x="891794" y="38100"/>
                    <a:pt x="881253" y="38100"/>
                  </a:cubicBezTo>
                  <a:lnTo>
                    <a:pt x="19050" y="38100"/>
                  </a:lnTo>
                  <a:cubicBezTo>
                    <a:pt x="8509" y="38100"/>
                    <a:pt x="0" y="29591"/>
                    <a:pt x="0" y="19050"/>
                  </a:cubicBezTo>
                  <a:close/>
                </a:path>
              </a:pathLst>
            </a:custGeom>
            <a:solidFill>
              <a:srgbClr val="BACFDD"/>
            </a:solidFill>
          </p:spPr>
        </p:sp>
      </p:grpSp>
      <p:grpSp>
        <p:nvGrpSpPr>
          <p:cNvPr name="Group 11" id="11"/>
          <p:cNvGrpSpPr/>
          <p:nvPr/>
        </p:nvGrpSpPr>
        <p:grpSpPr>
          <a:xfrm rot="0">
            <a:off x="943050" y="2210470"/>
            <a:ext cx="515987" cy="515988"/>
            <a:chOff x="0" y="0"/>
            <a:chExt cx="687983" cy="687983"/>
          </a:xfrm>
        </p:grpSpPr>
        <p:sp>
          <p:nvSpPr>
            <p:cNvPr name="Freeform 12" id="12"/>
            <p:cNvSpPr/>
            <p:nvPr/>
          </p:nvSpPr>
          <p:spPr>
            <a:xfrm flipH="false" flipV="false" rot="0">
              <a:off x="6350" y="6350"/>
              <a:ext cx="675259" cy="675259"/>
            </a:xfrm>
            <a:custGeom>
              <a:avLst/>
              <a:gdLst/>
              <a:ahLst/>
              <a:cxnLst/>
              <a:rect r="r" b="b" t="t" l="l"/>
              <a:pathLst>
                <a:path h="675259" w="675259">
                  <a:moveTo>
                    <a:pt x="0" y="337693"/>
                  </a:moveTo>
                  <a:cubicBezTo>
                    <a:pt x="0" y="151130"/>
                    <a:pt x="151130" y="0"/>
                    <a:pt x="337693" y="0"/>
                  </a:cubicBezTo>
                  <a:cubicBezTo>
                    <a:pt x="524256" y="0"/>
                    <a:pt x="675259" y="151130"/>
                    <a:pt x="675259" y="337693"/>
                  </a:cubicBezTo>
                  <a:cubicBezTo>
                    <a:pt x="675259" y="524256"/>
                    <a:pt x="524129" y="675259"/>
                    <a:pt x="337693" y="675259"/>
                  </a:cubicBezTo>
                  <a:cubicBezTo>
                    <a:pt x="151257" y="675259"/>
                    <a:pt x="0" y="524129"/>
                    <a:pt x="0" y="337693"/>
                  </a:cubicBezTo>
                  <a:close/>
                </a:path>
              </a:pathLst>
            </a:custGeom>
            <a:solidFill>
              <a:srgbClr val="D4E9F7"/>
            </a:solidFill>
          </p:spPr>
        </p:sp>
        <p:sp>
          <p:nvSpPr>
            <p:cNvPr name="Freeform 13" id="13"/>
            <p:cNvSpPr/>
            <p:nvPr/>
          </p:nvSpPr>
          <p:spPr>
            <a:xfrm flipH="false" flipV="false" rot="0">
              <a:off x="0" y="0"/>
              <a:ext cx="687959" cy="688086"/>
            </a:xfrm>
            <a:custGeom>
              <a:avLst/>
              <a:gdLst/>
              <a:ahLst/>
              <a:cxnLst/>
              <a:rect r="r" b="b" t="t" l="l"/>
              <a:pathLst>
                <a:path h="688086" w="687959">
                  <a:moveTo>
                    <a:pt x="0" y="344043"/>
                  </a:moveTo>
                  <a:cubicBezTo>
                    <a:pt x="0" y="154051"/>
                    <a:pt x="154051" y="0"/>
                    <a:pt x="344043" y="0"/>
                  </a:cubicBezTo>
                  <a:cubicBezTo>
                    <a:pt x="345186" y="0"/>
                    <a:pt x="346456" y="381"/>
                    <a:pt x="347472" y="1016"/>
                  </a:cubicBezTo>
                  <a:lnTo>
                    <a:pt x="344043" y="6350"/>
                  </a:lnTo>
                  <a:lnTo>
                    <a:pt x="344043" y="0"/>
                  </a:lnTo>
                  <a:lnTo>
                    <a:pt x="344043" y="6350"/>
                  </a:lnTo>
                  <a:lnTo>
                    <a:pt x="344043" y="0"/>
                  </a:lnTo>
                  <a:cubicBezTo>
                    <a:pt x="534035" y="0"/>
                    <a:pt x="687959" y="154051"/>
                    <a:pt x="687959" y="344043"/>
                  </a:cubicBezTo>
                  <a:cubicBezTo>
                    <a:pt x="687959" y="345694"/>
                    <a:pt x="687324" y="347345"/>
                    <a:pt x="686054" y="348488"/>
                  </a:cubicBezTo>
                  <a:lnTo>
                    <a:pt x="681609" y="344043"/>
                  </a:lnTo>
                  <a:lnTo>
                    <a:pt x="687959" y="344043"/>
                  </a:lnTo>
                  <a:cubicBezTo>
                    <a:pt x="687959" y="534035"/>
                    <a:pt x="533908" y="688086"/>
                    <a:pt x="343916" y="688086"/>
                  </a:cubicBezTo>
                  <a:lnTo>
                    <a:pt x="343916" y="681736"/>
                  </a:lnTo>
                  <a:lnTo>
                    <a:pt x="343916" y="688086"/>
                  </a:lnTo>
                  <a:cubicBezTo>
                    <a:pt x="154051" y="687959"/>
                    <a:pt x="0" y="534035"/>
                    <a:pt x="0" y="344043"/>
                  </a:cubicBezTo>
                  <a:lnTo>
                    <a:pt x="6350" y="344043"/>
                  </a:lnTo>
                  <a:lnTo>
                    <a:pt x="0" y="344043"/>
                  </a:lnTo>
                  <a:moveTo>
                    <a:pt x="12700" y="344043"/>
                  </a:moveTo>
                  <a:lnTo>
                    <a:pt x="6350" y="344043"/>
                  </a:lnTo>
                  <a:lnTo>
                    <a:pt x="12700" y="344043"/>
                  </a:lnTo>
                  <a:cubicBezTo>
                    <a:pt x="12700" y="526923"/>
                    <a:pt x="161036" y="675259"/>
                    <a:pt x="344043" y="675259"/>
                  </a:cubicBezTo>
                  <a:cubicBezTo>
                    <a:pt x="527050" y="675259"/>
                    <a:pt x="675259" y="526923"/>
                    <a:pt x="675259" y="344043"/>
                  </a:cubicBezTo>
                  <a:cubicBezTo>
                    <a:pt x="675259" y="342392"/>
                    <a:pt x="675894" y="340741"/>
                    <a:pt x="677164" y="339598"/>
                  </a:cubicBezTo>
                  <a:lnTo>
                    <a:pt x="681609" y="344043"/>
                  </a:lnTo>
                  <a:lnTo>
                    <a:pt x="675259" y="344043"/>
                  </a:lnTo>
                  <a:cubicBezTo>
                    <a:pt x="675259" y="161036"/>
                    <a:pt x="526923" y="12700"/>
                    <a:pt x="344043" y="12700"/>
                  </a:cubicBezTo>
                  <a:cubicBezTo>
                    <a:pt x="342900" y="12700"/>
                    <a:pt x="341630" y="12319"/>
                    <a:pt x="340614" y="11684"/>
                  </a:cubicBezTo>
                  <a:lnTo>
                    <a:pt x="344043" y="6350"/>
                  </a:lnTo>
                  <a:lnTo>
                    <a:pt x="344043" y="12700"/>
                  </a:lnTo>
                  <a:cubicBezTo>
                    <a:pt x="161036" y="12700"/>
                    <a:pt x="12700" y="161036"/>
                    <a:pt x="12700" y="344043"/>
                  </a:cubicBezTo>
                  <a:close/>
                </a:path>
              </a:pathLst>
            </a:custGeom>
            <a:solidFill>
              <a:srgbClr val="BACFDD"/>
            </a:solidFill>
          </p:spPr>
        </p:sp>
      </p:grpSp>
      <p:sp>
        <p:nvSpPr>
          <p:cNvPr name="TextBox 14" id="14"/>
          <p:cNvSpPr txBox="true"/>
          <p:nvPr/>
        </p:nvSpPr>
        <p:spPr>
          <a:xfrm rot="0">
            <a:off x="1023268" y="2236739"/>
            <a:ext cx="355401" cy="422275"/>
          </a:xfrm>
          <a:prstGeom prst="rect">
            <a:avLst/>
          </a:prstGeom>
        </p:spPr>
        <p:txBody>
          <a:bodyPr anchor="t" rtlCol="false" tIns="0" lIns="0" bIns="0" rIns="0">
            <a:spAutoFit/>
          </a:bodyPr>
          <a:lstStyle/>
          <a:p>
            <a:pPr algn="ctr">
              <a:lnSpc>
                <a:spcPts val="2750"/>
              </a:lnSpc>
            </a:pPr>
            <a:r>
              <a:rPr lang="en-US" sz="2750" b="true">
                <a:solidFill>
                  <a:srgbClr val="384653"/>
                </a:solidFill>
                <a:latin typeface="Times New Roman MT Bold"/>
                <a:ea typeface="Times New Roman MT Bold"/>
                <a:cs typeface="Times New Roman MT Bold"/>
                <a:sym typeface="Times New Roman MT Bold"/>
              </a:rPr>
              <a:t>1</a:t>
            </a:r>
          </a:p>
        </p:txBody>
      </p:sp>
      <p:sp>
        <p:nvSpPr>
          <p:cNvPr name="TextBox 15" id="15"/>
          <p:cNvSpPr txBox="true"/>
          <p:nvPr/>
        </p:nvSpPr>
        <p:spPr>
          <a:xfrm rot="0">
            <a:off x="2326779" y="2235324"/>
            <a:ext cx="2962126" cy="406400"/>
          </a:xfrm>
          <a:prstGeom prst="rect">
            <a:avLst/>
          </a:prstGeom>
        </p:spPr>
        <p:txBody>
          <a:bodyPr anchor="t" rtlCol="false" tIns="0" lIns="0" bIns="0" rIns="0">
            <a:spAutoFit/>
          </a:bodyPr>
          <a:lstStyle/>
          <a:p>
            <a:pPr algn="l">
              <a:lnSpc>
                <a:spcPts val="2875"/>
              </a:lnSpc>
            </a:pPr>
            <a:r>
              <a:rPr lang="en-US" sz="2312" b="true">
                <a:solidFill>
                  <a:srgbClr val="384653"/>
                </a:solidFill>
                <a:latin typeface="Times New Roman MT Bold"/>
                <a:ea typeface="Times New Roman MT Bold"/>
                <a:cs typeface="Times New Roman MT Bold"/>
                <a:sym typeface="Times New Roman MT Bold"/>
              </a:rPr>
              <a:t>Load Model</a:t>
            </a:r>
          </a:p>
        </p:txBody>
      </p:sp>
      <p:sp>
        <p:nvSpPr>
          <p:cNvPr name="TextBox 16" id="16"/>
          <p:cNvSpPr txBox="true"/>
          <p:nvPr/>
        </p:nvSpPr>
        <p:spPr>
          <a:xfrm rot="0">
            <a:off x="2326779" y="2683297"/>
            <a:ext cx="8155335" cy="376238"/>
          </a:xfrm>
          <a:prstGeom prst="rect">
            <a:avLst/>
          </a:prstGeom>
        </p:spPr>
        <p:txBody>
          <a:bodyPr anchor="t" rtlCol="false" tIns="0" lIns="0" bIns="0" rIns="0">
            <a:spAutoFit/>
          </a:bodyPr>
          <a:lstStyle/>
          <a:p>
            <a:pPr algn="l">
              <a:lnSpc>
                <a:spcPts val="2812"/>
              </a:lnSpc>
            </a:pPr>
            <a:r>
              <a:rPr lang="en-US" sz="1750">
                <a:solidFill>
                  <a:srgbClr val="384653"/>
                </a:solidFill>
                <a:latin typeface="Times New Roman MT"/>
                <a:ea typeface="Times New Roman MT"/>
                <a:cs typeface="Times New Roman MT"/>
                <a:sym typeface="Times New Roman MT"/>
              </a:rPr>
              <a:t>Retrieve trained model and tokenizer from Google Drive storage</a:t>
            </a:r>
          </a:p>
        </p:txBody>
      </p:sp>
      <p:grpSp>
        <p:nvGrpSpPr>
          <p:cNvPr name="Group 17" id="17"/>
          <p:cNvGrpSpPr/>
          <p:nvPr/>
        </p:nvGrpSpPr>
        <p:grpSpPr>
          <a:xfrm rot="0">
            <a:off x="1425699" y="3846835"/>
            <a:ext cx="675234" cy="28575"/>
            <a:chOff x="0" y="0"/>
            <a:chExt cx="900312" cy="38100"/>
          </a:xfrm>
        </p:grpSpPr>
        <p:sp>
          <p:nvSpPr>
            <p:cNvPr name="Freeform 18" id="18"/>
            <p:cNvSpPr/>
            <p:nvPr/>
          </p:nvSpPr>
          <p:spPr>
            <a:xfrm flipH="false" flipV="false" rot="0">
              <a:off x="0" y="0"/>
              <a:ext cx="900303" cy="38100"/>
            </a:xfrm>
            <a:custGeom>
              <a:avLst/>
              <a:gdLst/>
              <a:ahLst/>
              <a:cxnLst/>
              <a:rect r="r" b="b" t="t" l="l"/>
              <a:pathLst>
                <a:path h="38100" w="900303">
                  <a:moveTo>
                    <a:pt x="0" y="19050"/>
                  </a:moveTo>
                  <a:cubicBezTo>
                    <a:pt x="0" y="8509"/>
                    <a:pt x="8509" y="0"/>
                    <a:pt x="19050" y="0"/>
                  </a:cubicBezTo>
                  <a:lnTo>
                    <a:pt x="881253" y="0"/>
                  </a:lnTo>
                  <a:cubicBezTo>
                    <a:pt x="891794" y="0"/>
                    <a:pt x="900303" y="8509"/>
                    <a:pt x="900303" y="19050"/>
                  </a:cubicBezTo>
                  <a:cubicBezTo>
                    <a:pt x="900303" y="29591"/>
                    <a:pt x="891794" y="38100"/>
                    <a:pt x="881253" y="38100"/>
                  </a:cubicBezTo>
                  <a:lnTo>
                    <a:pt x="19050" y="38100"/>
                  </a:lnTo>
                  <a:cubicBezTo>
                    <a:pt x="8509" y="38100"/>
                    <a:pt x="0" y="29591"/>
                    <a:pt x="0" y="19050"/>
                  </a:cubicBezTo>
                  <a:close/>
                </a:path>
              </a:pathLst>
            </a:custGeom>
            <a:solidFill>
              <a:srgbClr val="BACFDD"/>
            </a:solidFill>
          </p:spPr>
        </p:sp>
      </p:grpSp>
      <p:grpSp>
        <p:nvGrpSpPr>
          <p:cNvPr name="Group 19" id="19"/>
          <p:cNvGrpSpPr/>
          <p:nvPr/>
        </p:nvGrpSpPr>
        <p:grpSpPr>
          <a:xfrm rot="0">
            <a:off x="943050" y="3603204"/>
            <a:ext cx="515987" cy="515987"/>
            <a:chOff x="0" y="0"/>
            <a:chExt cx="687983" cy="687983"/>
          </a:xfrm>
        </p:grpSpPr>
        <p:sp>
          <p:nvSpPr>
            <p:cNvPr name="Freeform 20" id="20"/>
            <p:cNvSpPr/>
            <p:nvPr/>
          </p:nvSpPr>
          <p:spPr>
            <a:xfrm flipH="false" flipV="false" rot="0">
              <a:off x="6350" y="6350"/>
              <a:ext cx="675259" cy="675259"/>
            </a:xfrm>
            <a:custGeom>
              <a:avLst/>
              <a:gdLst/>
              <a:ahLst/>
              <a:cxnLst/>
              <a:rect r="r" b="b" t="t" l="l"/>
              <a:pathLst>
                <a:path h="675259" w="675259">
                  <a:moveTo>
                    <a:pt x="0" y="337693"/>
                  </a:moveTo>
                  <a:cubicBezTo>
                    <a:pt x="0" y="151130"/>
                    <a:pt x="151130" y="0"/>
                    <a:pt x="337693" y="0"/>
                  </a:cubicBezTo>
                  <a:cubicBezTo>
                    <a:pt x="524256" y="0"/>
                    <a:pt x="675259" y="151130"/>
                    <a:pt x="675259" y="337693"/>
                  </a:cubicBezTo>
                  <a:cubicBezTo>
                    <a:pt x="675259" y="524256"/>
                    <a:pt x="524129" y="675259"/>
                    <a:pt x="337693" y="675259"/>
                  </a:cubicBezTo>
                  <a:cubicBezTo>
                    <a:pt x="151257" y="675259"/>
                    <a:pt x="0" y="524129"/>
                    <a:pt x="0" y="337693"/>
                  </a:cubicBezTo>
                  <a:close/>
                </a:path>
              </a:pathLst>
            </a:custGeom>
            <a:solidFill>
              <a:srgbClr val="D4E9F7"/>
            </a:solidFill>
          </p:spPr>
        </p:sp>
        <p:sp>
          <p:nvSpPr>
            <p:cNvPr name="Freeform 21" id="21"/>
            <p:cNvSpPr/>
            <p:nvPr/>
          </p:nvSpPr>
          <p:spPr>
            <a:xfrm flipH="false" flipV="false" rot="0">
              <a:off x="0" y="0"/>
              <a:ext cx="687959" cy="688086"/>
            </a:xfrm>
            <a:custGeom>
              <a:avLst/>
              <a:gdLst/>
              <a:ahLst/>
              <a:cxnLst/>
              <a:rect r="r" b="b" t="t" l="l"/>
              <a:pathLst>
                <a:path h="688086" w="687959">
                  <a:moveTo>
                    <a:pt x="0" y="344043"/>
                  </a:moveTo>
                  <a:cubicBezTo>
                    <a:pt x="0" y="154051"/>
                    <a:pt x="154051" y="0"/>
                    <a:pt x="344043" y="0"/>
                  </a:cubicBezTo>
                  <a:cubicBezTo>
                    <a:pt x="345186" y="0"/>
                    <a:pt x="346456" y="381"/>
                    <a:pt x="347472" y="1016"/>
                  </a:cubicBezTo>
                  <a:lnTo>
                    <a:pt x="344043" y="6350"/>
                  </a:lnTo>
                  <a:lnTo>
                    <a:pt x="344043" y="0"/>
                  </a:lnTo>
                  <a:lnTo>
                    <a:pt x="344043" y="6350"/>
                  </a:lnTo>
                  <a:lnTo>
                    <a:pt x="344043" y="0"/>
                  </a:lnTo>
                  <a:cubicBezTo>
                    <a:pt x="534035" y="0"/>
                    <a:pt x="687959" y="154051"/>
                    <a:pt x="687959" y="344043"/>
                  </a:cubicBezTo>
                  <a:cubicBezTo>
                    <a:pt x="687959" y="345694"/>
                    <a:pt x="687324" y="347345"/>
                    <a:pt x="686054" y="348488"/>
                  </a:cubicBezTo>
                  <a:lnTo>
                    <a:pt x="681609" y="344043"/>
                  </a:lnTo>
                  <a:lnTo>
                    <a:pt x="687959" y="344043"/>
                  </a:lnTo>
                  <a:cubicBezTo>
                    <a:pt x="687959" y="534035"/>
                    <a:pt x="533908" y="688086"/>
                    <a:pt x="343916" y="688086"/>
                  </a:cubicBezTo>
                  <a:lnTo>
                    <a:pt x="343916" y="681736"/>
                  </a:lnTo>
                  <a:lnTo>
                    <a:pt x="343916" y="688086"/>
                  </a:lnTo>
                  <a:cubicBezTo>
                    <a:pt x="154051" y="687959"/>
                    <a:pt x="0" y="534035"/>
                    <a:pt x="0" y="344043"/>
                  </a:cubicBezTo>
                  <a:lnTo>
                    <a:pt x="6350" y="344043"/>
                  </a:lnTo>
                  <a:lnTo>
                    <a:pt x="0" y="344043"/>
                  </a:lnTo>
                  <a:moveTo>
                    <a:pt x="12700" y="344043"/>
                  </a:moveTo>
                  <a:lnTo>
                    <a:pt x="6350" y="344043"/>
                  </a:lnTo>
                  <a:lnTo>
                    <a:pt x="12700" y="344043"/>
                  </a:lnTo>
                  <a:cubicBezTo>
                    <a:pt x="12700" y="526923"/>
                    <a:pt x="161036" y="675259"/>
                    <a:pt x="344043" y="675259"/>
                  </a:cubicBezTo>
                  <a:cubicBezTo>
                    <a:pt x="527050" y="675259"/>
                    <a:pt x="675259" y="526923"/>
                    <a:pt x="675259" y="344043"/>
                  </a:cubicBezTo>
                  <a:cubicBezTo>
                    <a:pt x="675259" y="342392"/>
                    <a:pt x="675894" y="340741"/>
                    <a:pt x="677164" y="339598"/>
                  </a:cubicBezTo>
                  <a:lnTo>
                    <a:pt x="681609" y="344043"/>
                  </a:lnTo>
                  <a:lnTo>
                    <a:pt x="675259" y="344043"/>
                  </a:lnTo>
                  <a:cubicBezTo>
                    <a:pt x="675259" y="161036"/>
                    <a:pt x="526923" y="12700"/>
                    <a:pt x="344043" y="12700"/>
                  </a:cubicBezTo>
                  <a:cubicBezTo>
                    <a:pt x="342900" y="12700"/>
                    <a:pt x="341630" y="12319"/>
                    <a:pt x="340614" y="11684"/>
                  </a:cubicBezTo>
                  <a:lnTo>
                    <a:pt x="344043" y="6350"/>
                  </a:lnTo>
                  <a:lnTo>
                    <a:pt x="344043" y="12700"/>
                  </a:lnTo>
                  <a:cubicBezTo>
                    <a:pt x="161036" y="12700"/>
                    <a:pt x="12700" y="161036"/>
                    <a:pt x="12700" y="344043"/>
                  </a:cubicBezTo>
                  <a:close/>
                </a:path>
              </a:pathLst>
            </a:custGeom>
            <a:solidFill>
              <a:srgbClr val="BACFDD"/>
            </a:solidFill>
          </p:spPr>
        </p:sp>
      </p:grpSp>
      <p:sp>
        <p:nvSpPr>
          <p:cNvPr name="TextBox 22" id="22"/>
          <p:cNvSpPr txBox="true"/>
          <p:nvPr/>
        </p:nvSpPr>
        <p:spPr>
          <a:xfrm rot="0">
            <a:off x="1023268" y="3629471"/>
            <a:ext cx="355401" cy="422275"/>
          </a:xfrm>
          <a:prstGeom prst="rect">
            <a:avLst/>
          </a:prstGeom>
        </p:spPr>
        <p:txBody>
          <a:bodyPr anchor="t" rtlCol="false" tIns="0" lIns="0" bIns="0" rIns="0">
            <a:spAutoFit/>
          </a:bodyPr>
          <a:lstStyle/>
          <a:p>
            <a:pPr algn="ctr">
              <a:lnSpc>
                <a:spcPts val="2750"/>
              </a:lnSpc>
            </a:pPr>
            <a:r>
              <a:rPr lang="en-US" sz="2750" b="true">
                <a:solidFill>
                  <a:srgbClr val="384653"/>
                </a:solidFill>
                <a:latin typeface="Times New Roman MT Bold"/>
                <a:ea typeface="Times New Roman MT Bold"/>
                <a:cs typeface="Times New Roman MT Bold"/>
                <a:sym typeface="Times New Roman MT Bold"/>
              </a:rPr>
              <a:t>2</a:t>
            </a:r>
          </a:p>
        </p:txBody>
      </p:sp>
      <p:sp>
        <p:nvSpPr>
          <p:cNvPr name="TextBox 23" id="23"/>
          <p:cNvSpPr txBox="true"/>
          <p:nvPr/>
        </p:nvSpPr>
        <p:spPr>
          <a:xfrm rot="0">
            <a:off x="2326779" y="3628057"/>
            <a:ext cx="2962126" cy="406400"/>
          </a:xfrm>
          <a:prstGeom prst="rect">
            <a:avLst/>
          </a:prstGeom>
        </p:spPr>
        <p:txBody>
          <a:bodyPr anchor="t" rtlCol="false" tIns="0" lIns="0" bIns="0" rIns="0">
            <a:spAutoFit/>
          </a:bodyPr>
          <a:lstStyle/>
          <a:p>
            <a:pPr algn="l">
              <a:lnSpc>
                <a:spcPts val="2875"/>
              </a:lnSpc>
            </a:pPr>
            <a:r>
              <a:rPr lang="en-US" sz="2312" b="true">
                <a:solidFill>
                  <a:srgbClr val="384653"/>
                </a:solidFill>
                <a:latin typeface="Times New Roman MT Bold"/>
                <a:ea typeface="Times New Roman MT Bold"/>
                <a:cs typeface="Times New Roman MT Bold"/>
                <a:sym typeface="Times New Roman MT Bold"/>
              </a:rPr>
              <a:t>Input Text</a:t>
            </a:r>
          </a:p>
        </p:txBody>
      </p:sp>
      <p:sp>
        <p:nvSpPr>
          <p:cNvPr name="TextBox 24" id="24"/>
          <p:cNvSpPr txBox="true"/>
          <p:nvPr/>
        </p:nvSpPr>
        <p:spPr>
          <a:xfrm rot="0">
            <a:off x="2326779" y="4076030"/>
            <a:ext cx="8155335" cy="376238"/>
          </a:xfrm>
          <a:prstGeom prst="rect">
            <a:avLst/>
          </a:prstGeom>
        </p:spPr>
        <p:txBody>
          <a:bodyPr anchor="t" rtlCol="false" tIns="0" lIns="0" bIns="0" rIns="0">
            <a:spAutoFit/>
          </a:bodyPr>
          <a:lstStyle/>
          <a:p>
            <a:pPr algn="l">
              <a:lnSpc>
                <a:spcPts val="2812"/>
              </a:lnSpc>
            </a:pPr>
            <a:r>
              <a:rPr lang="en-US" sz="1750">
                <a:solidFill>
                  <a:srgbClr val="384653"/>
                </a:solidFill>
                <a:latin typeface="Times New Roman MT"/>
                <a:ea typeface="Times New Roman MT"/>
                <a:cs typeface="Times New Roman MT"/>
                <a:sym typeface="Times New Roman MT"/>
              </a:rPr>
              <a:t>User enters medical transcript via Colab form interface</a:t>
            </a:r>
          </a:p>
        </p:txBody>
      </p:sp>
      <p:grpSp>
        <p:nvGrpSpPr>
          <p:cNvPr name="Group 25" id="25"/>
          <p:cNvGrpSpPr/>
          <p:nvPr/>
        </p:nvGrpSpPr>
        <p:grpSpPr>
          <a:xfrm rot="0">
            <a:off x="1425699" y="5239569"/>
            <a:ext cx="675234" cy="28575"/>
            <a:chOff x="0" y="0"/>
            <a:chExt cx="900312" cy="38100"/>
          </a:xfrm>
        </p:grpSpPr>
        <p:sp>
          <p:nvSpPr>
            <p:cNvPr name="Freeform 26" id="26"/>
            <p:cNvSpPr/>
            <p:nvPr/>
          </p:nvSpPr>
          <p:spPr>
            <a:xfrm flipH="false" flipV="false" rot="0">
              <a:off x="0" y="0"/>
              <a:ext cx="900303" cy="38100"/>
            </a:xfrm>
            <a:custGeom>
              <a:avLst/>
              <a:gdLst/>
              <a:ahLst/>
              <a:cxnLst/>
              <a:rect r="r" b="b" t="t" l="l"/>
              <a:pathLst>
                <a:path h="38100" w="900303">
                  <a:moveTo>
                    <a:pt x="0" y="19050"/>
                  </a:moveTo>
                  <a:cubicBezTo>
                    <a:pt x="0" y="8509"/>
                    <a:pt x="8509" y="0"/>
                    <a:pt x="19050" y="0"/>
                  </a:cubicBezTo>
                  <a:lnTo>
                    <a:pt x="881253" y="0"/>
                  </a:lnTo>
                  <a:cubicBezTo>
                    <a:pt x="891794" y="0"/>
                    <a:pt x="900303" y="8509"/>
                    <a:pt x="900303" y="19050"/>
                  </a:cubicBezTo>
                  <a:cubicBezTo>
                    <a:pt x="900303" y="29591"/>
                    <a:pt x="891794" y="38100"/>
                    <a:pt x="881253" y="38100"/>
                  </a:cubicBezTo>
                  <a:lnTo>
                    <a:pt x="19050" y="38100"/>
                  </a:lnTo>
                  <a:cubicBezTo>
                    <a:pt x="8509" y="38100"/>
                    <a:pt x="0" y="29591"/>
                    <a:pt x="0" y="19050"/>
                  </a:cubicBezTo>
                  <a:close/>
                </a:path>
              </a:pathLst>
            </a:custGeom>
            <a:solidFill>
              <a:srgbClr val="BACFDD"/>
            </a:solidFill>
          </p:spPr>
        </p:sp>
      </p:grpSp>
      <p:grpSp>
        <p:nvGrpSpPr>
          <p:cNvPr name="Group 27" id="27"/>
          <p:cNvGrpSpPr/>
          <p:nvPr/>
        </p:nvGrpSpPr>
        <p:grpSpPr>
          <a:xfrm rot="0">
            <a:off x="943050" y="4995937"/>
            <a:ext cx="515987" cy="515987"/>
            <a:chOff x="0" y="0"/>
            <a:chExt cx="687983" cy="687983"/>
          </a:xfrm>
        </p:grpSpPr>
        <p:sp>
          <p:nvSpPr>
            <p:cNvPr name="Freeform 28" id="28"/>
            <p:cNvSpPr/>
            <p:nvPr/>
          </p:nvSpPr>
          <p:spPr>
            <a:xfrm flipH="false" flipV="false" rot="0">
              <a:off x="6350" y="6350"/>
              <a:ext cx="675259" cy="675259"/>
            </a:xfrm>
            <a:custGeom>
              <a:avLst/>
              <a:gdLst/>
              <a:ahLst/>
              <a:cxnLst/>
              <a:rect r="r" b="b" t="t" l="l"/>
              <a:pathLst>
                <a:path h="675259" w="675259">
                  <a:moveTo>
                    <a:pt x="0" y="337693"/>
                  </a:moveTo>
                  <a:cubicBezTo>
                    <a:pt x="0" y="151130"/>
                    <a:pt x="151130" y="0"/>
                    <a:pt x="337693" y="0"/>
                  </a:cubicBezTo>
                  <a:cubicBezTo>
                    <a:pt x="524256" y="0"/>
                    <a:pt x="675259" y="151130"/>
                    <a:pt x="675259" y="337693"/>
                  </a:cubicBezTo>
                  <a:cubicBezTo>
                    <a:pt x="675259" y="524256"/>
                    <a:pt x="524129" y="675259"/>
                    <a:pt x="337693" y="675259"/>
                  </a:cubicBezTo>
                  <a:cubicBezTo>
                    <a:pt x="151257" y="675259"/>
                    <a:pt x="0" y="524129"/>
                    <a:pt x="0" y="337693"/>
                  </a:cubicBezTo>
                  <a:close/>
                </a:path>
              </a:pathLst>
            </a:custGeom>
            <a:solidFill>
              <a:srgbClr val="D4E9F7"/>
            </a:solidFill>
          </p:spPr>
        </p:sp>
        <p:sp>
          <p:nvSpPr>
            <p:cNvPr name="Freeform 29" id="29"/>
            <p:cNvSpPr/>
            <p:nvPr/>
          </p:nvSpPr>
          <p:spPr>
            <a:xfrm flipH="false" flipV="false" rot="0">
              <a:off x="0" y="0"/>
              <a:ext cx="687959" cy="688086"/>
            </a:xfrm>
            <a:custGeom>
              <a:avLst/>
              <a:gdLst/>
              <a:ahLst/>
              <a:cxnLst/>
              <a:rect r="r" b="b" t="t" l="l"/>
              <a:pathLst>
                <a:path h="688086" w="687959">
                  <a:moveTo>
                    <a:pt x="0" y="344043"/>
                  </a:moveTo>
                  <a:cubicBezTo>
                    <a:pt x="0" y="154051"/>
                    <a:pt x="154051" y="0"/>
                    <a:pt x="344043" y="0"/>
                  </a:cubicBezTo>
                  <a:cubicBezTo>
                    <a:pt x="345186" y="0"/>
                    <a:pt x="346456" y="381"/>
                    <a:pt x="347472" y="1016"/>
                  </a:cubicBezTo>
                  <a:lnTo>
                    <a:pt x="344043" y="6350"/>
                  </a:lnTo>
                  <a:lnTo>
                    <a:pt x="344043" y="0"/>
                  </a:lnTo>
                  <a:lnTo>
                    <a:pt x="344043" y="6350"/>
                  </a:lnTo>
                  <a:lnTo>
                    <a:pt x="344043" y="0"/>
                  </a:lnTo>
                  <a:cubicBezTo>
                    <a:pt x="534035" y="0"/>
                    <a:pt x="687959" y="154051"/>
                    <a:pt x="687959" y="344043"/>
                  </a:cubicBezTo>
                  <a:cubicBezTo>
                    <a:pt x="687959" y="345694"/>
                    <a:pt x="687324" y="347345"/>
                    <a:pt x="686054" y="348488"/>
                  </a:cubicBezTo>
                  <a:lnTo>
                    <a:pt x="681609" y="344043"/>
                  </a:lnTo>
                  <a:lnTo>
                    <a:pt x="687959" y="344043"/>
                  </a:lnTo>
                  <a:cubicBezTo>
                    <a:pt x="687959" y="534035"/>
                    <a:pt x="533908" y="688086"/>
                    <a:pt x="343916" y="688086"/>
                  </a:cubicBezTo>
                  <a:lnTo>
                    <a:pt x="343916" y="681736"/>
                  </a:lnTo>
                  <a:lnTo>
                    <a:pt x="343916" y="688086"/>
                  </a:lnTo>
                  <a:cubicBezTo>
                    <a:pt x="154051" y="687959"/>
                    <a:pt x="0" y="534035"/>
                    <a:pt x="0" y="344043"/>
                  </a:cubicBezTo>
                  <a:lnTo>
                    <a:pt x="6350" y="344043"/>
                  </a:lnTo>
                  <a:lnTo>
                    <a:pt x="0" y="344043"/>
                  </a:lnTo>
                  <a:moveTo>
                    <a:pt x="12700" y="344043"/>
                  </a:moveTo>
                  <a:lnTo>
                    <a:pt x="6350" y="344043"/>
                  </a:lnTo>
                  <a:lnTo>
                    <a:pt x="12700" y="344043"/>
                  </a:lnTo>
                  <a:cubicBezTo>
                    <a:pt x="12700" y="526923"/>
                    <a:pt x="161036" y="675259"/>
                    <a:pt x="344043" y="675259"/>
                  </a:cubicBezTo>
                  <a:cubicBezTo>
                    <a:pt x="527050" y="675259"/>
                    <a:pt x="675259" y="526923"/>
                    <a:pt x="675259" y="344043"/>
                  </a:cubicBezTo>
                  <a:cubicBezTo>
                    <a:pt x="675259" y="342392"/>
                    <a:pt x="675894" y="340741"/>
                    <a:pt x="677164" y="339598"/>
                  </a:cubicBezTo>
                  <a:lnTo>
                    <a:pt x="681609" y="344043"/>
                  </a:lnTo>
                  <a:lnTo>
                    <a:pt x="675259" y="344043"/>
                  </a:lnTo>
                  <a:cubicBezTo>
                    <a:pt x="675259" y="161036"/>
                    <a:pt x="526923" y="12700"/>
                    <a:pt x="344043" y="12700"/>
                  </a:cubicBezTo>
                  <a:cubicBezTo>
                    <a:pt x="342900" y="12700"/>
                    <a:pt x="341630" y="12319"/>
                    <a:pt x="340614" y="11684"/>
                  </a:cubicBezTo>
                  <a:lnTo>
                    <a:pt x="344043" y="6350"/>
                  </a:lnTo>
                  <a:lnTo>
                    <a:pt x="344043" y="12700"/>
                  </a:lnTo>
                  <a:cubicBezTo>
                    <a:pt x="161036" y="12700"/>
                    <a:pt x="12700" y="161036"/>
                    <a:pt x="12700" y="344043"/>
                  </a:cubicBezTo>
                  <a:close/>
                </a:path>
              </a:pathLst>
            </a:custGeom>
            <a:solidFill>
              <a:srgbClr val="BACFDD"/>
            </a:solidFill>
          </p:spPr>
        </p:sp>
      </p:grpSp>
      <p:sp>
        <p:nvSpPr>
          <p:cNvPr name="TextBox 30" id="30"/>
          <p:cNvSpPr txBox="true"/>
          <p:nvPr/>
        </p:nvSpPr>
        <p:spPr>
          <a:xfrm rot="0">
            <a:off x="1023268" y="5022205"/>
            <a:ext cx="355401" cy="422275"/>
          </a:xfrm>
          <a:prstGeom prst="rect">
            <a:avLst/>
          </a:prstGeom>
        </p:spPr>
        <p:txBody>
          <a:bodyPr anchor="t" rtlCol="false" tIns="0" lIns="0" bIns="0" rIns="0">
            <a:spAutoFit/>
          </a:bodyPr>
          <a:lstStyle/>
          <a:p>
            <a:pPr algn="ctr">
              <a:lnSpc>
                <a:spcPts val="2750"/>
              </a:lnSpc>
            </a:pPr>
            <a:r>
              <a:rPr lang="en-US" sz="2750" b="true">
                <a:solidFill>
                  <a:srgbClr val="384653"/>
                </a:solidFill>
                <a:latin typeface="Times New Roman MT Bold"/>
                <a:ea typeface="Times New Roman MT Bold"/>
                <a:cs typeface="Times New Roman MT Bold"/>
                <a:sym typeface="Times New Roman MT Bold"/>
              </a:rPr>
              <a:t>3</a:t>
            </a:r>
          </a:p>
        </p:txBody>
      </p:sp>
      <p:sp>
        <p:nvSpPr>
          <p:cNvPr name="TextBox 31" id="31"/>
          <p:cNvSpPr txBox="true"/>
          <p:nvPr/>
        </p:nvSpPr>
        <p:spPr>
          <a:xfrm rot="0">
            <a:off x="2326779" y="5020791"/>
            <a:ext cx="2962126" cy="406400"/>
          </a:xfrm>
          <a:prstGeom prst="rect">
            <a:avLst/>
          </a:prstGeom>
        </p:spPr>
        <p:txBody>
          <a:bodyPr anchor="t" rtlCol="false" tIns="0" lIns="0" bIns="0" rIns="0">
            <a:spAutoFit/>
          </a:bodyPr>
          <a:lstStyle/>
          <a:p>
            <a:pPr algn="l">
              <a:lnSpc>
                <a:spcPts val="2875"/>
              </a:lnSpc>
            </a:pPr>
            <a:r>
              <a:rPr lang="en-US" sz="2312" b="true">
                <a:solidFill>
                  <a:srgbClr val="384653"/>
                </a:solidFill>
                <a:latin typeface="Times New Roman MT Bold"/>
                <a:ea typeface="Times New Roman MT Bold"/>
                <a:cs typeface="Times New Roman MT Bold"/>
                <a:sym typeface="Times New Roman MT Bold"/>
              </a:rPr>
              <a:t>Generate</a:t>
            </a:r>
          </a:p>
        </p:txBody>
      </p:sp>
      <p:sp>
        <p:nvSpPr>
          <p:cNvPr name="TextBox 32" id="32"/>
          <p:cNvSpPr txBox="true"/>
          <p:nvPr/>
        </p:nvSpPr>
        <p:spPr>
          <a:xfrm rot="0">
            <a:off x="2326779" y="5468764"/>
            <a:ext cx="8155335" cy="376238"/>
          </a:xfrm>
          <a:prstGeom prst="rect">
            <a:avLst/>
          </a:prstGeom>
        </p:spPr>
        <p:txBody>
          <a:bodyPr anchor="t" rtlCol="false" tIns="0" lIns="0" bIns="0" rIns="0">
            <a:spAutoFit/>
          </a:bodyPr>
          <a:lstStyle/>
          <a:p>
            <a:pPr algn="l">
              <a:lnSpc>
                <a:spcPts val="2812"/>
              </a:lnSpc>
            </a:pPr>
            <a:r>
              <a:rPr lang="en-US" sz="1750">
                <a:solidFill>
                  <a:srgbClr val="384653"/>
                </a:solidFill>
                <a:latin typeface="Times New Roman MT"/>
                <a:ea typeface="Times New Roman MT"/>
                <a:cs typeface="Times New Roman MT"/>
                <a:sym typeface="Times New Roman MT"/>
              </a:rPr>
              <a:t>Greedy decoding produces summary token-by-token up to 128 length</a:t>
            </a:r>
          </a:p>
        </p:txBody>
      </p:sp>
      <p:grpSp>
        <p:nvGrpSpPr>
          <p:cNvPr name="Group 33" id="33"/>
          <p:cNvGrpSpPr/>
          <p:nvPr/>
        </p:nvGrpSpPr>
        <p:grpSpPr>
          <a:xfrm rot="0">
            <a:off x="1425699" y="6632302"/>
            <a:ext cx="675234" cy="28575"/>
            <a:chOff x="0" y="0"/>
            <a:chExt cx="900312" cy="38100"/>
          </a:xfrm>
        </p:grpSpPr>
        <p:sp>
          <p:nvSpPr>
            <p:cNvPr name="Freeform 34" id="34"/>
            <p:cNvSpPr/>
            <p:nvPr/>
          </p:nvSpPr>
          <p:spPr>
            <a:xfrm flipH="false" flipV="false" rot="0">
              <a:off x="0" y="0"/>
              <a:ext cx="900303" cy="38100"/>
            </a:xfrm>
            <a:custGeom>
              <a:avLst/>
              <a:gdLst/>
              <a:ahLst/>
              <a:cxnLst/>
              <a:rect r="r" b="b" t="t" l="l"/>
              <a:pathLst>
                <a:path h="38100" w="900303">
                  <a:moveTo>
                    <a:pt x="0" y="19050"/>
                  </a:moveTo>
                  <a:cubicBezTo>
                    <a:pt x="0" y="8509"/>
                    <a:pt x="8509" y="0"/>
                    <a:pt x="19050" y="0"/>
                  </a:cubicBezTo>
                  <a:lnTo>
                    <a:pt x="881253" y="0"/>
                  </a:lnTo>
                  <a:cubicBezTo>
                    <a:pt x="891794" y="0"/>
                    <a:pt x="900303" y="8509"/>
                    <a:pt x="900303" y="19050"/>
                  </a:cubicBezTo>
                  <a:cubicBezTo>
                    <a:pt x="900303" y="29591"/>
                    <a:pt x="891794" y="38100"/>
                    <a:pt x="881253" y="38100"/>
                  </a:cubicBezTo>
                  <a:lnTo>
                    <a:pt x="19050" y="38100"/>
                  </a:lnTo>
                  <a:cubicBezTo>
                    <a:pt x="8509" y="38100"/>
                    <a:pt x="0" y="29591"/>
                    <a:pt x="0" y="19050"/>
                  </a:cubicBezTo>
                  <a:close/>
                </a:path>
              </a:pathLst>
            </a:custGeom>
            <a:solidFill>
              <a:srgbClr val="BACFDD"/>
            </a:solidFill>
          </p:spPr>
        </p:sp>
      </p:grpSp>
      <p:grpSp>
        <p:nvGrpSpPr>
          <p:cNvPr name="Group 35" id="35"/>
          <p:cNvGrpSpPr/>
          <p:nvPr/>
        </p:nvGrpSpPr>
        <p:grpSpPr>
          <a:xfrm rot="0">
            <a:off x="943050" y="6388671"/>
            <a:ext cx="515987" cy="515987"/>
            <a:chOff x="0" y="0"/>
            <a:chExt cx="687983" cy="687983"/>
          </a:xfrm>
        </p:grpSpPr>
        <p:sp>
          <p:nvSpPr>
            <p:cNvPr name="Freeform 36" id="36"/>
            <p:cNvSpPr/>
            <p:nvPr/>
          </p:nvSpPr>
          <p:spPr>
            <a:xfrm flipH="false" flipV="false" rot="0">
              <a:off x="6350" y="6350"/>
              <a:ext cx="675259" cy="675259"/>
            </a:xfrm>
            <a:custGeom>
              <a:avLst/>
              <a:gdLst/>
              <a:ahLst/>
              <a:cxnLst/>
              <a:rect r="r" b="b" t="t" l="l"/>
              <a:pathLst>
                <a:path h="675259" w="675259">
                  <a:moveTo>
                    <a:pt x="0" y="337693"/>
                  </a:moveTo>
                  <a:cubicBezTo>
                    <a:pt x="0" y="151130"/>
                    <a:pt x="151130" y="0"/>
                    <a:pt x="337693" y="0"/>
                  </a:cubicBezTo>
                  <a:cubicBezTo>
                    <a:pt x="524256" y="0"/>
                    <a:pt x="675259" y="151130"/>
                    <a:pt x="675259" y="337693"/>
                  </a:cubicBezTo>
                  <a:cubicBezTo>
                    <a:pt x="675259" y="524256"/>
                    <a:pt x="524129" y="675259"/>
                    <a:pt x="337693" y="675259"/>
                  </a:cubicBezTo>
                  <a:cubicBezTo>
                    <a:pt x="151257" y="675259"/>
                    <a:pt x="0" y="524129"/>
                    <a:pt x="0" y="337693"/>
                  </a:cubicBezTo>
                  <a:close/>
                </a:path>
              </a:pathLst>
            </a:custGeom>
            <a:solidFill>
              <a:srgbClr val="D4E9F7"/>
            </a:solidFill>
          </p:spPr>
        </p:sp>
        <p:sp>
          <p:nvSpPr>
            <p:cNvPr name="Freeform 37" id="37"/>
            <p:cNvSpPr/>
            <p:nvPr/>
          </p:nvSpPr>
          <p:spPr>
            <a:xfrm flipH="false" flipV="false" rot="0">
              <a:off x="0" y="0"/>
              <a:ext cx="687959" cy="688086"/>
            </a:xfrm>
            <a:custGeom>
              <a:avLst/>
              <a:gdLst/>
              <a:ahLst/>
              <a:cxnLst/>
              <a:rect r="r" b="b" t="t" l="l"/>
              <a:pathLst>
                <a:path h="688086" w="687959">
                  <a:moveTo>
                    <a:pt x="0" y="344043"/>
                  </a:moveTo>
                  <a:cubicBezTo>
                    <a:pt x="0" y="154051"/>
                    <a:pt x="154051" y="0"/>
                    <a:pt x="344043" y="0"/>
                  </a:cubicBezTo>
                  <a:cubicBezTo>
                    <a:pt x="345186" y="0"/>
                    <a:pt x="346456" y="381"/>
                    <a:pt x="347472" y="1016"/>
                  </a:cubicBezTo>
                  <a:lnTo>
                    <a:pt x="344043" y="6350"/>
                  </a:lnTo>
                  <a:lnTo>
                    <a:pt x="344043" y="0"/>
                  </a:lnTo>
                  <a:lnTo>
                    <a:pt x="344043" y="6350"/>
                  </a:lnTo>
                  <a:lnTo>
                    <a:pt x="344043" y="0"/>
                  </a:lnTo>
                  <a:cubicBezTo>
                    <a:pt x="534035" y="0"/>
                    <a:pt x="687959" y="154051"/>
                    <a:pt x="687959" y="344043"/>
                  </a:cubicBezTo>
                  <a:cubicBezTo>
                    <a:pt x="687959" y="345694"/>
                    <a:pt x="687324" y="347345"/>
                    <a:pt x="686054" y="348488"/>
                  </a:cubicBezTo>
                  <a:lnTo>
                    <a:pt x="681609" y="344043"/>
                  </a:lnTo>
                  <a:lnTo>
                    <a:pt x="687959" y="344043"/>
                  </a:lnTo>
                  <a:cubicBezTo>
                    <a:pt x="687959" y="534035"/>
                    <a:pt x="533908" y="688086"/>
                    <a:pt x="343916" y="688086"/>
                  </a:cubicBezTo>
                  <a:lnTo>
                    <a:pt x="343916" y="681736"/>
                  </a:lnTo>
                  <a:lnTo>
                    <a:pt x="343916" y="688086"/>
                  </a:lnTo>
                  <a:cubicBezTo>
                    <a:pt x="154051" y="687959"/>
                    <a:pt x="0" y="534035"/>
                    <a:pt x="0" y="344043"/>
                  </a:cubicBezTo>
                  <a:lnTo>
                    <a:pt x="6350" y="344043"/>
                  </a:lnTo>
                  <a:lnTo>
                    <a:pt x="0" y="344043"/>
                  </a:lnTo>
                  <a:moveTo>
                    <a:pt x="12700" y="344043"/>
                  </a:moveTo>
                  <a:lnTo>
                    <a:pt x="6350" y="344043"/>
                  </a:lnTo>
                  <a:lnTo>
                    <a:pt x="12700" y="344043"/>
                  </a:lnTo>
                  <a:cubicBezTo>
                    <a:pt x="12700" y="526923"/>
                    <a:pt x="161036" y="675259"/>
                    <a:pt x="344043" y="675259"/>
                  </a:cubicBezTo>
                  <a:cubicBezTo>
                    <a:pt x="527050" y="675259"/>
                    <a:pt x="675259" y="526923"/>
                    <a:pt x="675259" y="344043"/>
                  </a:cubicBezTo>
                  <a:cubicBezTo>
                    <a:pt x="675259" y="342392"/>
                    <a:pt x="675894" y="340741"/>
                    <a:pt x="677164" y="339598"/>
                  </a:cubicBezTo>
                  <a:lnTo>
                    <a:pt x="681609" y="344043"/>
                  </a:lnTo>
                  <a:lnTo>
                    <a:pt x="675259" y="344043"/>
                  </a:lnTo>
                  <a:cubicBezTo>
                    <a:pt x="675259" y="161036"/>
                    <a:pt x="526923" y="12700"/>
                    <a:pt x="344043" y="12700"/>
                  </a:cubicBezTo>
                  <a:cubicBezTo>
                    <a:pt x="342900" y="12700"/>
                    <a:pt x="341630" y="12319"/>
                    <a:pt x="340614" y="11684"/>
                  </a:cubicBezTo>
                  <a:lnTo>
                    <a:pt x="344043" y="6350"/>
                  </a:lnTo>
                  <a:lnTo>
                    <a:pt x="344043" y="12700"/>
                  </a:lnTo>
                  <a:cubicBezTo>
                    <a:pt x="161036" y="12700"/>
                    <a:pt x="12700" y="161036"/>
                    <a:pt x="12700" y="344043"/>
                  </a:cubicBezTo>
                  <a:close/>
                </a:path>
              </a:pathLst>
            </a:custGeom>
            <a:solidFill>
              <a:srgbClr val="BACFDD"/>
            </a:solidFill>
          </p:spPr>
        </p:sp>
      </p:grpSp>
      <p:sp>
        <p:nvSpPr>
          <p:cNvPr name="TextBox 38" id="38"/>
          <p:cNvSpPr txBox="true"/>
          <p:nvPr/>
        </p:nvSpPr>
        <p:spPr>
          <a:xfrm rot="0">
            <a:off x="1023268" y="6414939"/>
            <a:ext cx="355401" cy="422275"/>
          </a:xfrm>
          <a:prstGeom prst="rect">
            <a:avLst/>
          </a:prstGeom>
        </p:spPr>
        <p:txBody>
          <a:bodyPr anchor="t" rtlCol="false" tIns="0" lIns="0" bIns="0" rIns="0">
            <a:spAutoFit/>
          </a:bodyPr>
          <a:lstStyle/>
          <a:p>
            <a:pPr algn="ctr">
              <a:lnSpc>
                <a:spcPts val="2750"/>
              </a:lnSpc>
            </a:pPr>
            <a:r>
              <a:rPr lang="en-US" sz="2750" b="true">
                <a:solidFill>
                  <a:srgbClr val="384653"/>
                </a:solidFill>
                <a:latin typeface="Times New Roman MT Bold"/>
                <a:ea typeface="Times New Roman MT Bold"/>
                <a:cs typeface="Times New Roman MT Bold"/>
                <a:sym typeface="Times New Roman MT Bold"/>
              </a:rPr>
              <a:t>4</a:t>
            </a:r>
          </a:p>
        </p:txBody>
      </p:sp>
      <p:sp>
        <p:nvSpPr>
          <p:cNvPr name="TextBox 39" id="39"/>
          <p:cNvSpPr txBox="true"/>
          <p:nvPr/>
        </p:nvSpPr>
        <p:spPr>
          <a:xfrm rot="0">
            <a:off x="2326779" y="6413525"/>
            <a:ext cx="2962126" cy="406400"/>
          </a:xfrm>
          <a:prstGeom prst="rect">
            <a:avLst/>
          </a:prstGeom>
        </p:spPr>
        <p:txBody>
          <a:bodyPr anchor="t" rtlCol="false" tIns="0" lIns="0" bIns="0" rIns="0">
            <a:spAutoFit/>
          </a:bodyPr>
          <a:lstStyle/>
          <a:p>
            <a:pPr algn="l">
              <a:lnSpc>
                <a:spcPts val="2875"/>
              </a:lnSpc>
            </a:pPr>
            <a:r>
              <a:rPr lang="en-US" sz="2312" b="true">
                <a:solidFill>
                  <a:srgbClr val="384653"/>
                </a:solidFill>
                <a:latin typeface="Times New Roman MT Bold"/>
                <a:ea typeface="Times New Roman MT Bold"/>
                <a:cs typeface="Times New Roman MT Bold"/>
                <a:sym typeface="Times New Roman MT Bold"/>
              </a:rPr>
              <a:t>Display Output</a:t>
            </a:r>
          </a:p>
        </p:txBody>
      </p:sp>
      <p:sp>
        <p:nvSpPr>
          <p:cNvPr name="TextBox 40" id="40"/>
          <p:cNvSpPr txBox="true"/>
          <p:nvPr/>
        </p:nvSpPr>
        <p:spPr>
          <a:xfrm rot="0">
            <a:off x="2326779" y="6861497"/>
            <a:ext cx="8155335" cy="376238"/>
          </a:xfrm>
          <a:prstGeom prst="rect">
            <a:avLst/>
          </a:prstGeom>
        </p:spPr>
        <p:txBody>
          <a:bodyPr anchor="t" rtlCol="false" tIns="0" lIns="0" bIns="0" rIns="0">
            <a:spAutoFit/>
          </a:bodyPr>
          <a:lstStyle/>
          <a:p>
            <a:pPr algn="l">
              <a:lnSpc>
                <a:spcPts val="2812"/>
              </a:lnSpc>
            </a:pPr>
            <a:r>
              <a:rPr lang="en-US" sz="1750">
                <a:solidFill>
                  <a:srgbClr val="384653"/>
                </a:solidFill>
                <a:latin typeface="Times New Roman MT"/>
                <a:ea typeface="Times New Roman MT"/>
                <a:cs typeface="Times New Roman MT"/>
                <a:sym typeface="Times New Roman MT"/>
              </a:rPr>
              <a:t>Concise summary appears in 10-20 seconds</a:t>
            </a:r>
          </a:p>
        </p:txBody>
      </p:sp>
      <p:sp>
        <p:nvSpPr>
          <p:cNvPr name="TextBox 41" id="41"/>
          <p:cNvSpPr txBox="true"/>
          <p:nvPr/>
        </p:nvSpPr>
        <p:spPr>
          <a:xfrm rot="0">
            <a:off x="947886" y="7905155"/>
            <a:ext cx="9534228" cy="1081088"/>
          </a:xfrm>
          <a:prstGeom prst="rect">
            <a:avLst/>
          </a:prstGeom>
        </p:spPr>
        <p:txBody>
          <a:bodyPr anchor="t" rtlCol="false" tIns="0" lIns="0" bIns="0" rIns="0">
            <a:spAutoFit/>
          </a:bodyPr>
          <a:lstStyle/>
          <a:p>
            <a:pPr algn="l">
              <a:lnSpc>
                <a:spcPts val="2812"/>
              </a:lnSpc>
            </a:pPr>
            <a:r>
              <a:rPr lang="en-US" sz="1750">
                <a:solidFill>
                  <a:srgbClr val="384653"/>
                </a:solidFill>
                <a:latin typeface="Times New Roman MT"/>
                <a:ea typeface="Times New Roman MT"/>
                <a:cs typeface="Times New Roman MT"/>
                <a:sym typeface="Times New Roman MT"/>
              </a:rPr>
              <a:t>The inference system uses greedy decoding for generation, selecting the most probable token at each step. Users interact through a simple Colab form with a text area for input, a generate button, and an output display area. Processing time averages 10-20 seconds per summary.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grpSp>
        <p:nvGrpSpPr>
          <p:cNvPr name="Group 6" id="6"/>
          <p:cNvGrpSpPr/>
          <p:nvPr/>
        </p:nvGrpSpPr>
        <p:grpSpPr>
          <a:xfrm rot="0">
            <a:off x="578345" y="1603003"/>
            <a:ext cx="8022134" cy="2247900"/>
            <a:chOff x="0" y="0"/>
            <a:chExt cx="10696178" cy="2997200"/>
          </a:xfrm>
        </p:grpSpPr>
        <p:sp>
          <p:nvSpPr>
            <p:cNvPr name="Freeform 7" id="7"/>
            <p:cNvSpPr/>
            <p:nvPr/>
          </p:nvSpPr>
          <p:spPr>
            <a:xfrm flipH="false" flipV="false" rot="0">
              <a:off x="12700" y="12700"/>
              <a:ext cx="10670794" cy="2971800"/>
            </a:xfrm>
            <a:custGeom>
              <a:avLst/>
              <a:gdLst/>
              <a:ahLst/>
              <a:cxnLst/>
              <a:rect r="r" b="b" t="t" l="l"/>
              <a:pathLst>
                <a:path h="2971800" w="10670794">
                  <a:moveTo>
                    <a:pt x="0" y="121920"/>
                  </a:moveTo>
                  <a:cubicBezTo>
                    <a:pt x="0" y="54610"/>
                    <a:pt x="54864" y="0"/>
                    <a:pt x="122682" y="0"/>
                  </a:cubicBezTo>
                  <a:lnTo>
                    <a:pt x="10548112" y="0"/>
                  </a:lnTo>
                  <a:cubicBezTo>
                    <a:pt x="10615930" y="0"/>
                    <a:pt x="10670794" y="54610"/>
                    <a:pt x="10670794" y="121920"/>
                  </a:cubicBezTo>
                  <a:lnTo>
                    <a:pt x="10670794" y="2849880"/>
                  </a:lnTo>
                  <a:cubicBezTo>
                    <a:pt x="10670794" y="2917190"/>
                    <a:pt x="10615930" y="2971800"/>
                    <a:pt x="10548112" y="2971800"/>
                  </a:cubicBezTo>
                  <a:lnTo>
                    <a:pt x="122682" y="2971800"/>
                  </a:lnTo>
                  <a:cubicBezTo>
                    <a:pt x="54864" y="2971800"/>
                    <a:pt x="0" y="2917190"/>
                    <a:pt x="0" y="2849880"/>
                  </a:cubicBezTo>
                  <a:close/>
                </a:path>
              </a:pathLst>
            </a:custGeom>
            <a:solidFill>
              <a:srgbClr val="FFFFFF"/>
            </a:solidFill>
          </p:spPr>
        </p:sp>
        <p:sp>
          <p:nvSpPr>
            <p:cNvPr name="Freeform 8" id="8"/>
            <p:cNvSpPr/>
            <p:nvPr/>
          </p:nvSpPr>
          <p:spPr>
            <a:xfrm flipH="false" flipV="false" rot="0">
              <a:off x="0" y="0"/>
              <a:ext cx="10696194" cy="2997200"/>
            </a:xfrm>
            <a:custGeom>
              <a:avLst/>
              <a:gdLst/>
              <a:ahLst/>
              <a:cxnLst/>
              <a:rect r="r" b="b" t="t" l="l"/>
              <a:pathLst>
                <a:path h="2997200" w="10696194">
                  <a:moveTo>
                    <a:pt x="0" y="134620"/>
                  </a:moveTo>
                  <a:cubicBezTo>
                    <a:pt x="0" y="60198"/>
                    <a:pt x="60706" y="0"/>
                    <a:pt x="135382" y="0"/>
                  </a:cubicBezTo>
                  <a:lnTo>
                    <a:pt x="10560812" y="0"/>
                  </a:lnTo>
                  <a:lnTo>
                    <a:pt x="10560812" y="12700"/>
                  </a:lnTo>
                  <a:lnTo>
                    <a:pt x="10560812" y="0"/>
                  </a:lnTo>
                  <a:cubicBezTo>
                    <a:pt x="10635488" y="0"/>
                    <a:pt x="10696194" y="60198"/>
                    <a:pt x="10696194" y="134620"/>
                  </a:cubicBezTo>
                  <a:lnTo>
                    <a:pt x="10683494" y="134620"/>
                  </a:lnTo>
                  <a:lnTo>
                    <a:pt x="10696194" y="134620"/>
                  </a:lnTo>
                  <a:lnTo>
                    <a:pt x="10696194" y="2862580"/>
                  </a:lnTo>
                  <a:lnTo>
                    <a:pt x="10683494" y="2862580"/>
                  </a:lnTo>
                  <a:lnTo>
                    <a:pt x="10696194" y="2862580"/>
                  </a:lnTo>
                  <a:cubicBezTo>
                    <a:pt x="10696194" y="2937002"/>
                    <a:pt x="10635488" y="2997200"/>
                    <a:pt x="10560812" y="2997200"/>
                  </a:cubicBezTo>
                  <a:lnTo>
                    <a:pt x="10560812" y="2984500"/>
                  </a:lnTo>
                  <a:lnTo>
                    <a:pt x="10560812" y="2997200"/>
                  </a:lnTo>
                  <a:lnTo>
                    <a:pt x="135382" y="2997200"/>
                  </a:lnTo>
                  <a:lnTo>
                    <a:pt x="135382" y="2984500"/>
                  </a:lnTo>
                  <a:lnTo>
                    <a:pt x="135382" y="2997200"/>
                  </a:lnTo>
                  <a:cubicBezTo>
                    <a:pt x="60706" y="2997200"/>
                    <a:pt x="0" y="2937002"/>
                    <a:pt x="0" y="2862580"/>
                  </a:cubicBezTo>
                  <a:lnTo>
                    <a:pt x="0" y="134620"/>
                  </a:lnTo>
                  <a:lnTo>
                    <a:pt x="12700" y="134620"/>
                  </a:lnTo>
                  <a:lnTo>
                    <a:pt x="0" y="134620"/>
                  </a:lnTo>
                  <a:moveTo>
                    <a:pt x="25400" y="134620"/>
                  </a:moveTo>
                  <a:lnTo>
                    <a:pt x="25400" y="2862580"/>
                  </a:lnTo>
                  <a:lnTo>
                    <a:pt x="12700" y="2862580"/>
                  </a:lnTo>
                  <a:lnTo>
                    <a:pt x="25400" y="2862580"/>
                  </a:lnTo>
                  <a:cubicBezTo>
                    <a:pt x="25400" y="2922778"/>
                    <a:pt x="74549" y="2971800"/>
                    <a:pt x="135382" y="2971800"/>
                  </a:cubicBezTo>
                  <a:lnTo>
                    <a:pt x="10560812" y="2971800"/>
                  </a:lnTo>
                  <a:cubicBezTo>
                    <a:pt x="10621645" y="2971800"/>
                    <a:pt x="10670794" y="2922778"/>
                    <a:pt x="10670794" y="2862580"/>
                  </a:cubicBezTo>
                  <a:lnTo>
                    <a:pt x="10670794" y="134620"/>
                  </a:lnTo>
                  <a:cubicBezTo>
                    <a:pt x="10670794" y="74422"/>
                    <a:pt x="10621645" y="25400"/>
                    <a:pt x="10560812" y="25400"/>
                  </a:cubicBezTo>
                  <a:lnTo>
                    <a:pt x="135382" y="25400"/>
                  </a:lnTo>
                  <a:lnTo>
                    <a:pt x="135382" y="12700"/>
                  </a:lnTo>
                  <a:lnTo>
                    <a:pt x="135382" y="25400"/>
                  </a:lnTo>
                  <a:cubicBezTo>
                    <a:pt x="74549" y="25400"/>
                    <a:pt x="25400" y="74422"/>
                    <a:pt x="25400" y="134620"/>
                  </a:cubicBezTo>
                  <a:close/>
                </a:path>
              </a:pathLst>
            </a:custGeom>
            <a:solidFill>
              <a:srgbClr val="75BAE6"/>
            </a:solidFill>
          </p:spPr>
        </p:sp>
      </p:grpSp>
      <p:grpSp>
        <p:nvGrpSpPr>
          <p:cNvPr name="Group 9" id="9"/>
          <p:cNvGrpSpPr/>
          <p:nvPr/>
        </p:nvGrpSpPr>
        <p:grpSpPr>
          <a:xfrm rot="0">
            <a:off x="568820" y="1612528"/>
            <a:ext cx="76200" cy="2228850"/>
            <a:chOff x="0" y="0"/>
            <a:chExt cx="101600" cy="2971800"/>
          </a:xfrm>
        </p:grpSpPr>
        <p:sp>
          <p:nvSpPr>
            <p:cNvPr name="Freeform 10" id="10"/>
            <p:cNvSpPr/>
            <p:nvPr/>
          </p:nvSpPr>
          <p:spPr>
            <a:xfrm flipH="false" flipV="false" rot="0">
              <a:off x="0" y="0"/>
              <a:ext cx="101600" cy="2971800"/>
            </a:xfrm>
            <a:custGeom>
              <a:avLst/>
              <a:gdLst/>
              <a:ahLst/>
              <a:cxnLst/>
              <a:rect r="r" b="b" t="t" l="l"/>
              <a:pathLst>
                <a:path h="2971800" w="101600">
                  <a:moveTo>
                    <a:pt x="0" y="50800"/>
                  </a:moveTo>
                  <a:cubicBezTo>
                    <a:pt x="0" y="22733"/>
                    <a:pt x="22733" y="0"/>
                    <a:pt x="50800" y="0"/>
                  </a:cubicBezTo>
                  <a:cubicBezTo>
                    <a:pt x="78867" y="0"/>
                    <a:pt x="101600" y="22733"/>
                    <a:pt x="101600" y="50800"/>
                  </a:cubicBezTo>
                  <a:lnTo>
                    <a:pt x="101600" y="2921000"/>
                  </a:lnTo>
                  <a:cubicBezTo>
                    <a:pt x="101600" y="2949067"/>
                    <a:pt x="78867" y="2971800"/>
                    <a:pt x="50800" y="2971800"/>
                  </a:cubicBezTo>
                  <a:cubicBezTo>
                    <a:pt x="22733" y="2971800"/>
                    <a:pt x="0" y="2949067"/>
                    <a:pt x="0" y="2921000"/>
                  </a:cubicBezTo>
                  <a:close/>
                </a:path>
              </a:pathLst>
            </a:custGeom>
            <a:solidFill>
              <a:srgbClr val="75BAE6"/>
            </a:solidFill>
          </p:spPr>
        </p:sp>
      </p:grpSp>
      <p:grpSp>
        <p:nvGrpSpPr>
          <p:cNvPr name="Group 11" id="11"/>
          <p:cNvGrpSpPr/>
          <p:nvPr/>
        </p:nvGrpSpPr>
        <p:grpSpPr>
          <a:xfrm rot="0">
            <a:off x="578345" y="4015209"/>
            <a:ext cx="8022134" cy="2247900"/>
            <a:chOff x="0" y="0"/>
            <a:chExt cx="10696178" cy="2997200"/>
          </a:xfrm>
        </p:grpSpPr>
        <p:sp>
          <p:nvSpPr>
            <p:cNvPr name="Freeform 12" id="12"/>
            <p:cNvSpPr/>
            <p:nvPr/>
          </p:nvSpPr>
          <p:spPr>
            <a:xfrm flipH="false" flipV="false" rot="0">
              <a:off x="12700" y="12700"/>
              <a:ext cx="10670794" cy="2971800"/>
            </a:xfrm>
            <a:custGeom>
              <a:avLst/>
              <a:gdLst/>
              <a:ahLst/>
              <a:cxnLst/>
              <a:rect r="r" b="b" t="t" l="l"/>
              <a:pathLst>
                <a:path h="2971800" w="10670794">
                  <a:moveTo>
                    <a:pt x="0" y="121920"/>
                  </a:moveTo>
                  <a:cubicBezTo>
                    <a:pt x="0" y="54610"/>
                    <a:pt x="54864" y="0"/>
                    <a:pt x="122682" y="0"/>
                  </a:cubicBezTo>
                  <a:lnTo>
                    <a:pt x="10548112" y="0"/>
                  </a:lnTo>
                  <a:cubicBezTo>
                    <a:pt x="10615930" y="0"/>
                    <a:pt x="10670794" y="54610"/>
                    <a:pt x="10670794" y="121920"/>
                  </a:cubicBezTo>
                  <a:lnTo>
                    <a:pt x="10670794" y="2849880"/>
                  </a:lnTo>
                  <a:cubicBezTo>
                    <a:pt x="10670794" y="2917190"/>
                    <a:pt x="10615930" y="2971800"/>
                    <a:pt x="10548112" y="2971800"/>
                  </a:cubicBezTo>
                  <a:lnTo>
                    <a:pt x="122682" y="2971800"/>
                  </a:lnTo>
                  <a:cubicBezTo>
                    <a:pt x="54864" y="2971800"/>
                    <a:pt x="0" y="2917190"/>
                    <a:pt x="0" y="2849880"/>
                  </a:cubicBezTo>
                  <a:close/>
                </a:path>
              </a:pathLst>
            </a:custGeom>
            <a:solidFill>
              <a:srgbClr val="FFFFFF"/>
            </a:solidFill>
          </p:spPr>
        </p:sp>
        <p:sp>
          <p:nvSpPr>
            <p:cNvPr name="Freeform 13" id="13"/>
            <p:cNvSpPr/>
            <p:nvPr/>
          </p:nvSpPr>
          <p:spPr>
            <a:xfrm flipH="false" flipV="false" rot="0">
              <a:off x="0" y="0"/>
              <a:ext cx="10696194" cy="2997200"/>
            </a:xfrm>
            <a:custGeom>
              <a:avLst/>
              <a:gdLst/>
              <a:ahLst/>
              <a:cxnLst/>
              <a:rect r="r" b="b" t="t" l="l"/>
              <a:pathLst>
                <a:path h="2997200" w="10696194">
                  <a:moveTo>
                    <a:pt x="0" y="134620"/>
                  </a:moveTo>
                  <a:cubicBezTo>
                    <a:pt x="0" y="60198"/>
                    <a:pt x="60706" y="0"/>
                    <a:pt x="135382" y="0"/>
                  </a:cubicBezTo>
                  <a:lnTo>
                    <a:pt x="10560812" y="0"/>
                  </a:lnTo>
                  <a:lnTo>
                    <a:pt x="10560812" y="12700"/>
                  </a:lnTo>
                  <a:lnTo>
                    <a:pt x="10560812" y="0"/>
                  </a:lnTo>
                  <a:cubicBezTo>
                    <a:pt x="10635488" y="0"/>
                    <a:pt x="10696194" y="60198"/>
                    <a:pt x="10696194" y="134620"/>
                  </a:cubicBezTo>
                  <a:lnTo>
                    <a:pt x="10683494" y="134620"/>
                  </a:lnTo>
                  <a:lnTo>
                    <a:pt x="10696194" y="134620"/>
                  </a:lnTo>
                  <a:lnTo>
                    <a:pt x="10696194" y="2862580"/>
                  </a:lnTo>
                  <a:lnTo>
                    <a:pt x="10683494" y="2862580"/>
                  </a:lnTo>
                  <a:lnTo>
                    <a:pt x="10696194" y="2862580"/>
                  </a:lnTo>
                  <a:cubicBezTo>
                    <a:pt x="10696194" y="2937002"/>
                    <a:pt x="10635488" y="2997200"/>
                    <a:pt x="10560812" y="2997200"/>
                  </a:cubicBezTo>
                  <a:lnTo>
                    <a:pt x="10560812" y="2984500"/>
                  </a:lnTo>
                  <a:lnTo>
                    <a:pt x="10560812" y="2997200"/>
                  </a:lnTo>
                  <a:lnTo>
                    <a:pt x="135382" y="2997200"/>
                  </a:lnTo>
                  <a:lnTo>
                    <a:pt x="135382" y="2984500"/>
                  </a:lnTo>
                  <a:lnTo>
                    <a:pt x="135382" y="2997200"/>
                  </a:lnTo>
                  <a:cubicBezTo>
                    <a:pt x="60706" y="2997200"/>
                    <a:pt x="0" y="2937002"/>
                    <a:pt x="0" y="2862580"/>
                  </a:cubicBezTo>
                  <a:lnTo>
                    <a:pt x="0" y="134620"/>
                  </a:lnTo>
                  <a:lnTo>
                    <a:pt x="12700" y="134620"/>
                  </a:lnTo>
                  <a:lnTo>
                    <a:pt x="0" y="134620"/>
                  </a:lnTo>
                  <a:moveTo>
                    <a:pt x="25400" y="134620"/>
                  </a:moveTo>
                  <a:lnTo>
                    <a:pt x="25400" y="2862580"/>
                  </a:lnTo>
                  <a:lnTo>
                    <a:pt x="12700" y="2862580"/>
                  </a:lnTo>
                  <a:lnTo>
                    <a:pt x="25400" y="2862580"/>
                  </a:lnTo>
                  <a:cubicBezTo>
                    <a:pt x="25400" y="2922778"/>
                    <a:pt x="74549" y="2971800"/>
                    <a:pt x="135382" y="2971800"/>
                  </a:cubicBezTo>
                  <a:lnTo>
                    <a:pt x="10560812" y="2971800"/>
                  </a:lnTo>
                  <a:cubicBezTo>
                    <a:pt x="10621645" y="2971800"/>
                    <a:pt x="10670794" y="2922778"/>
                    <a:pt x="10670794" y="2862580"/>
                  </a:cubicBezTo>
                  <a:lnTo>
                    <a:pt x="10670794" y="134620"/>
                  </a:lnTo>
                  <a:cubicBezTo>
                    <a:pt x="10670794" y="74422"/>
                    <a:pt x="10621645" y="25400"/>
                    <a:pt x="10560812" y="25400"/>
                  </a:cubicBezTo>
                  <a:lnTo>
                    <a:pt x="135382" y="25400"/>
                  </a:lnTo>
                  <a:lnTo>
                    <a:pt x="135382" y="12700"/>
                  </a:lnTo>
                  <a:lnTo>
                    <a:pt x="135382" y="25400"/>
                  </a:lnTo>
                  <a:cubicBezTo>
                    <a:pt x="74549" y="25400"/>
                    <a:pt x="25400" y="74422"/>
                    <a:pt x="25400" y="134620"/>
                  </a:cubicBezTo>
                  <a:close/>
                </a:path>
              </a:pathLst>
            </a:custGeom>
            <a:solidFill>
              <a:srgbClr val="2589C9"/>
            </a:solidFill>
          </p:spPr>
        </p:sp>
      </p:grpSp>
      <p:grpSp>
        <p:nvGrpSpPr>
          <p:cNvPr name="Group 14" id="14"/>
          <p:cNvGrpSpPr/>
          <p:nvPr/>
        </p:nvGrpSpPr>
        <p:grpSpPr>
          <a:xfrm rot="0">
            <a:off x="568820" y="4024734"/>
            <a:ext cx="76200" cy="2228850"/>
            <a:chOff x="0" y="0"/>
            <a:chExt cx="101600" cy="2971800"/>
          </a:xfrm>
        </p:grpSpPr>
        <p:sp>
          <p:nvSpPr>
            <p:cNvPr name="Freeform 15" id="15"/>
            <p:cNvSpPr/>
            <p:nvPr/>
          </p:nvSpPr>
          <p:spPr>
            <a:xfrm flipH="false" flipV="false" rot="0">
              <a:off x="0" y="0"/>
              <a:ext cx="101600" cy="2971800"/>
            </a:xfrm>
            <a:custGeom>
              <a:avLst/>
              <a:gdLst/>
              <a:ahLst/>
              <a:cxnLst/>
              <a:rect r="r" b="b" t="t" l="l"/>
              <a:pathLst>
                <a:path h="2971800" w="101600">
                  <a:moveTo>
                    <a:pt x="0" y="50800"/>
                  </a:moveTo>
                  <a:cubicBezTo>
                    <a:pt x="0" y="22733"/>
                    <a:pt x="22733" y="0"/>
                    <a:pt x="50800" y="0"/>
                  </a:cubicBezTo>
                  <a:cubicBezTo>
                    <a:pt x="78867" y="0"/>
                    <a:pt x="101600" y="22733"/>
                    <a:pt x="101600" y="50800"/>
                  </a:cubicBezTo>
                  <a:lnTo>
                    <a:pt x="101600" y="2921000"/>
                  </a:lnTo>
                  <a:cubicBezTo>
                    <a:pt x="101600" y="2949067"/>
                    <a:pt x="78867" y="2971800"/>
                    <a:pt x="50800" y="2971800"/>
                  </a:cubicBezTo>
                  <a:cubicBezTo>
                    <a:pt x="22733" y="2971800"/>
                    <a:pt x="0" y="2949067"/>
                    <a:pt x="0" y="2921000"/>
                  </a:cubicBezTo>
                  <a:close/>
                </a:path>
              </a:pathLst>
            </a:custGeom>
            <a:solidFill>
              <a:srgbClr val="2589C9"/>
            </a:solidFill>
          </p:spPr>
        </p:sp>
      </p:grpSp>
      <p:grpSp>
        <p:nvGrpSpPr>
          <p:cNvPr name="Group 16" id="16"/>
          <p:cNvGrpSpPr/>
          <p:nvPr/>
        </p:nvGrpSpPr>
        <p:grpSpPr>
          <a:xfrm rot="0">
            <a:off x="578345" y="6427416"/>
            <a:ext cx="8022134" cy="1954411"/>
            <a:chOff x="0" y="0"/>
            <a:chExt cx="10696178" cy="2605882"/>
          </a:xfrm>
        </p:grpSpPr>
        <p:sp>
          <p:nvSpPr>
            <p:cNvPr name="Freeform 17" id="17"/>
            <p:cNvSpPr/>
            <p:nvPr/>
          </p:nvSpPr>
          <p:spPr>
            <a:xfrm flipH="false" flipV="false" rot="0">
              <a:off x="12700" y="12700"/>
              <a:ext cx="10670794" cy="2580513"/>
            </a:xfrm>
            <a:custGeom>
              <a:avLst/>
              <a:gdLst/>
              <a:ahLst/>
              <a:cxnLst/>
              <a:rect r="r" b="b" t="t" l="l"/>
              <a:pathLst>
                <a:path h="2580513" w="10670794">
                  <a:moveTo>
                    <a:pt x="0" y="121920"/>
                  </a:moveTo>
                  <a:cubicBezTo>
                    <a:pt x="0" y="54610"/>
                    <a:pt x="54991" y="0"/>
                    <a:pt x="122809" y="0"/>
                  </a:cubicBezTo>
                  <a:lnTo>
                    <a:pt x="10547985" y="0"/>
                  </a:lnTo>
                  <a:cubicBezTo>
                    <a:pt x="10615803" y="0"/>
                    <a:pt x="10670794" y="54610"/>
                    <a:pt x="10670794" y="121920"/>
                  </a:cubicBezTo>
                  <a:lnTo>
                    <a:pt x="10670794" y="2458593"/>
                  </a:lnTo>
                  <a:cubicBezTo>
                    <a:pt x="10670794" y="2525903"/>
                    <a:pt x="10615803" y="2580513"/>
                    <a:pt x="10547985" y="2580513"/>
                  </a:cubicBezTo>
                  <a:lnTo>
                    <a:pt x="122809" y="2580513"/>
                  </a:lnTo>
                  <a:cubicBezTo>
                    <a:pt x="54991" y="2580513"/>
                    <a:pt x="0" y="2525903"/>
                    <a:pt x="0" y="2458593"/>
                  </a:cubicBezTo>
                  <a:close/>
                </a:path>
              </a:pathLst>
            </a:custGeom>
            <a:solidFill>
              <a:srgbClr val="FFFFFF"/>
            </a:solidFill>
          </p:spPr>
        </p:sp>
        <p:sp>
          <p:nvSpPr>
            <p:cNvPr name="Freeform 18" id="18"/>
            <p:cNvSpPr/>
            <p:nvPr/>
          </p:nvSpPr>
          <p:spPr>
            <a:xfrm flipH="false" flipV="false" rot="0">
              <a:off x="0" y="0"/>
              <a:ext cx="10696194" cy="2605913"/>
            </a:xfrm>
            <a:custGeom>
              <a:avLst/>
              <a:gdLst/>
              <a:ahLst/>
              <a:cxnLst/>
              <a:rect r="r" b="b" t="t" l="l"/>
              <a:pathLst>
                <a:path h="2605913" w="10696194">
                  <a:moveTo>
                    <a:pt x="0" y="134620"/>
                  </a:moveTo>
                  <a:cubicBezTo>
                    <a:pt x="0" y="60198"/>
                    <a:pt x="60833" y="0"/>
                    <a:pt x="135509" y="0"/>
                  </a:cubicBezTo>
                  <a:lnTo>
                    <a:pt x="10560685" y="0"/>
                  </a:lnTo>
                  <a:lnTo>
                    <a:pt x="10560685" y="12700"/>
                  </a:lnTo>
                  <a:lnTo>
                    <a:pt x="10560685" y="0"/>
                  </a:lnTo>
                  <a:cubicBezTo>
                    <a:pt x="10635488" y="0"/>
                    <a:pt x="10696194" y="60198"/>
                    <a:pt x="10696194" y="134620"/>
                  </a:cubicBezTo>
                  <a:lnTo>
                    <a:pt x="10683494" y="134620"/>
                  </a:lnTo>
                  <a:lnTo>
                    <a:pt x="10696194" y="134620"/>
                  </a:lnTo>
                  <a:lnTo>
                    <a:pt x="10696194" y="2471293"/>
                  </a:lnTo>
                  <a:lnTo>
                    <a:pt x="10683494" y="2471293"/>
                  </a:lnTo>
                  <a:lnTo>
                    <a:pt x="10696194" y="2471293"/>
                  </a:lnTo>
                  <a:cubicBezTo>
                    <a:pt x="10696194" y="2545715"/>
                    <a:pt x="10635361" y="2605913"/>
                    <a:pt x="10560685" y="2605913"/>
                  </a:cubicBezTo>
                  <a:lnTo>
                    <a:pt x="10560685" y="2593213"/>
                  </a:lnTo>
                  <a:lnTo>
                    <a:pt x="10560685" y="2605913"/>
                  </a:lnTo>
                  <a:lnTo>
                    <a:pt x="135509" y="2605913"/>
                  </a:lnTo>
                  <a:lnTo>
                    <a:pt x="135509" y="2593213"/>
                  </a:lnTo>
                  <a:lnTo>
                    <a:pt x="135509" y="2605913"/>
                  </a:lnTo>
                  <a:cubicBezTo>
                    <a:pt x="60833" y="2605913"/>
                    <a:pt x="0" y="2545715"/>
                    <a:pt x="0" y="2471293"/>
                  </a:cubicBezTo>
                  <a:lnTo>
                    <a:pt x="0" y="134620"/>
                  </a:lnTo>
                  <a:lnTo>
                    <a:pt x="12700" y="134620"/>
                  </a:lnTo>
                  <a:lnTo>
                    <a:pt x="0" y="134620"/>
                  </a:lnTo>
                  <a:moveTo>
                    <a:pt x="25400" y="134620"/>
                  </a:moveTo>
                  <a:lnTo>
                    <a:pt x="25400" y="2471293"/>
                  </a:lnTo>
                  <a:lnTo>
                    <a:pt x="12700" y="2471293"/>
                  </a:lnTo>
                  <a:lnTo>
                    <a:pt x="25400" y="2471293"/>
                  </a:lnTo>
                  <a:cubicBezTo>
                    <a:pt x="25400" y="2531491"/>
                    <a:pt x="74676" y="2580513"/>
                    <a:pt x="135509" y="2580513"/>
                  </a:cubicBezTo>
                  <a:lnTo>
                    <a:pt x="10560685" y="2580513"/>
                  </a:lnTo>
                  <a:cubicBezTo>
                    <a:pt x="10621645" y="2580513"/>
                    <a:pt x="10670794" y="2531491"/>
                    <a:pt x="10670794" y="2471293"/>
                  </a:cubicBezTo>
                  <a:lnTo>
                    <a:pt x="10670794" y="134620"/>
                  </a:lnTo>
                  <a:cubicBezTo>
                    <a:pt x="10670794" y="74422"/>
                    <a:pt x="10621518" y="25400"/>
                    <a:pt x="10560685" y="25400"/>
                  </a:cubicBezTo>
                  <a:lnTo>
                    <a:pt x="135509" y="25400"/>
                  </a:lnTo>
                  <a:lnTo>
                    <a:pt x="135509" y="12700"/>
                  </a:lnTo>
                  <a:lnTo>
                    <a:pt x="135509" y="25400"/>
                  </a:lnTo>
                  <a:cubicBezTo>
                    <a:pt x="74676" y="25400"/>
                    <a:pt x="25400" y="74422"/>
                    <a:pt x="25400" y="134620"/>
                  </a:cubicBezTo>
                  <a:close/>
                </a:path>
              </a:pathLst>
            </a:custGeom>
            <a:solidFill>
              <a:srgbClr val="063E5F"/>
            </a:solidFill>
          </p:spPr>
        </p:sp>
      </p:grpSp>
      <p:grpSp>
        <p:nvGrpSpPr>
          <p:cNvPr name="Group 19" id="19"/>
          <p:cNvGrpSpPr/>
          <p:nvPr/>
        </p:nvGrpSpPr>
        <p:grpSpPr>
          <a:xfrm rot="0">
            <a:off x="568820" y="6436941"/>
            <a:ext cx="76200" cy="1935361"/>
            <a:chOff x="0" y="0"/>
            <a:chExt cx="101600" cy="2580482"/>
          </a:xfrm>
        </p:grpSpPr>
        <p:sp>
          <p:nvSpPr>
            <p:cNvPr name="Freeform 20" id="20"/>
            <p:cNvSpPr/>
            <p:nvPr/>
          </p:nvSpPr>
          <p:spPr>
            <a:xfrm flipH="false" flipV="false" rot="0">
              <a:off x="0" y="0"/>
              <a:ext cx="101600" cy="2580513"/>
            </a:xfrm>
            <a:custGeom>
              <a:avLst/>
              <a:gdLst/>
              <a:ahLst/>
              <a:cxnLst/>
              <a:rect r="r" b="b" t="t" l="l"/>
              <a:pathLst>
                <a:path h="2580513" w="101600">
                  <a:moveTo>
                    <a:pt x="0" y="50800"/>
                  </a:moveTo>
                  <a:cubicBezTo>
                    <a:pt x="0" y="22733"/>
                    <a:pt x="22733" y="0"/>
                    <a:pt x="50800" y="0"/>
                  </a:cubicBezTo>
                  <a:cubicBezTo>
                    <a:pt x="78867" y="0"/>
                    <a:pt x="101600" y="22733"/>
                    <a:pt x="101600" y="50800"/>
                  </a:cubicBezTo>
                  <a:lnTo>
                    <a:pt x="101600" y="2529713"/>
                  </a:lnTo>
                  <a:cubicBezTo>
                    <a:pt x="101600" y="2557780"/>
                    <a:pt x="78867" y="2580513"/>
                    <a:pt x="50800" y="2580513"/>
                  </a:cubicBezTo>
                  <a:cubicBezTo>
                    <a:pt x="22733" y="2580513"/>
                    <a:pt x="0" y="2557780"/>
                    <a:pt x="0" y="2529713"/>
                  </a:cubicBezTo>
                  <a:close/>
                </a:path>
              </a:pathLst>
            </a:custGeom>
            <a:solidFill>
              <a:srgbClr val="063E5F"/>
            </a:solidFill>
          </p:spPr>
        </p:sp>
      </p:grpSp>
      <p:grpSp>
        <p:nvGrpSpPr>
          <p:cNvPr name="Group 21" id="21"/>
          <p:cNvGrpSpPr/>
          <p:nvPr/>
        </p:nvGrpSpPr>
        <p:grpSpPr>
          <a:xfrm rot="0">
            <a:off x="568820" y="8648527"/>
            <a:ext cx="8003084" cy="1366391"/>
            <a:chOff x="0" y="0"/>
            <a:chExt cx="10670778" cy="1821855"/>
          </a:xfrm>
        </p:grpSpPr>
        <p:sp>
          <p:nvSpPr>
            <p:cNvPr name="Freeform 22" id="22"/>
            <p:cNvSpPr/>
            <p:nvPr/>
          </p:nvSpPr>
          <p:spPr>
            <a:xfrm flipH="false" flipV="false" rot="0">
              <a:off x="0" y="0"/>
              <a:ext cx="10670794" cy="1821815"/>
            </a:xfrm>
            <a:custGeom>
              <a:avLst/>
              <a:gdLst/>
              <a:ahLst/>
              <a:cxnLst/>
              <a:rect r="r" b="b" t="t" l="l"/>
              <a:pathLst>
                <a:path h="1821815" w="10670794">
                  <a:moveTo>
                    <a:pt x="0" y="366903"/>
                  </a:moveTo>
                  <a:cubicBezTo>
                    <a:pt x="0" y="164338"/>
                    <a:pt x="164338" y="0"/>
                    <a:pt x="366903" y="0"/>
                  </a:cubicBezTo>
                  <a:lnTo>
                    <a:pt x="10303891" y="0"/>
                  </a:lnTo>
                  <a:cubicBezTo>
                    <a:pt x="10506583" y="0"/>
                    <a:pt x="10670794" y="164338"/>
                    <a:pt x="10670794" y="366903"/>
                  </a:cubicBezTo>
                  <a:lnTo>
                    <a:pt x="10670794" y="1454912"/>
                  </a:lnTo>
                  <a:cubicBezTo>
                    <a:pt x="10670794" y="1657604"/>
                    <a:pt x="10506456" y="1821815"/>
                    <a:pt x="10303891" y="1821815"/>
                  </a:cubicBezTo>
                  <a:lnTo>
                    <a:pt x="366903" y="1821815"/>
                  </a:lnTo>
                  <a:cubicBezTo>
                    <a:pt x="164338" y="1821815"/>
                    <a:pt x="0" y="1657604"/>
                    <a:pt x="0" y="1454912"/>
                  </a:cubicBezTo>
                  <a:close/>
                </a:path>
              </a:pathLst>
            </a:custGeom>
            <a:solidFill>
              <a:srgbClr val="BEDFF3"/>
            </a:solidFill>
          </p:spPr>
        </p:sp>
      </p:grpSp>
      <p:grpSp>
        <p:nvGrpSpPr>
          <p:cNvPr name="Group 23" id="23"/>
          <p:cNvGrpSpPr>
            <a:grpSpLocks noChangeAspect="true"/>
          </p:cNvGrpSpPr>
          <p:nvPr/>
        </p:nvGrpSpPr>
        <p:grpSpPr>
          <a:xfrm rot="0">
            <a:off x="732829" y="8905702"/>
            <a:ext cx="229195" cy="183356"/>
            <a:chOff x="0" y="0"/>
            <a:chExt cx="305593" cy="244475"/>
          </a:xfrm>
        </p:grpSpPr>
        <p:sp>
          <p:nvSpPr>
            <p:cNvPr name="Freeform 24" id="24" descr="preencoded.png"/>
            <p:cNvSpPr/>
            <p:nvPr/>
          </p:nvSpPr>
          <p:spPr>
            <a:xfrm flipH="false" flipV="false" rot="0">
              <a:off x="0" y="0"/>
              <a:ext cx="305562" cy="244475"/>
            </a:xfrm>
            <a:custGeom>
              <a:avLst/>
              <a:gdLst/>
              <a:ahLst/>
              <a:cxnLst/>
              <a:rect r="r" b="b" t="t" l="l"/>
              <a:pathLst>
                <a:path h="244475" w="305562">
                  <a:moveTo>
                    <a:pt x="0" y="0"/>
                  </a:moveTo>
                  <a:lnTo>
                    <a:pt x="305562" y="0"/>
                  </a:lnTo>
                  <a:lnTo>
                    <a:pt x="305562" y="244475"/>
                  </a:lnTo>
                  <a:lnTo>
                    <a:pt x="0" y="244475"/>
                  </a:lnTo>
                  <a:lnTo>
                    <a:pt x="0" y="0"/>
                  </a:lnTo>
                  <a:close/>
                </a:path>
              </a:pathLst>
            </a:custGeom>
            <a:blipFill>
              <a:blip r:embed="rId4"/>
              <a:stretch>
                <a:fillRect l="-526" t="0" r="-536" b="0"/>
              </a:stretch>
            </a:blipFill>
          </p:spPr>
        </p:sp>
      </p:grpSp>
      <p:sp>
        <p:nvSpPr>
          <p:cNvPr name="Freeform 25" id="25"/>
          <p:cNvSpPr/>
          <p:nvPr/>
        </p:nvSpPr>
        <p:spPr>
          <a:xfrm flipH="false" flipV="false" rot="0">
            <a:off x="8800504" y="2726953"/>
            <a:ext cx="9305930" cy="5717753"/>
          </a:xfrm>
          <a:custGeom>
            <a:avLst/>
            <a:gdLst/>
            <a:ahLst/>
            <a:cxnLst/>
            <a:rect r="r" b="b" t="t" l="l"/>
            <a:pathLst>
              <a:path h="5717753" w="9305930">
                <a:moveTo>
                  <a:pt x="0" y="0"/>
                </a:moveTo>
                <a:lnTo>
                  <a:pt x="9305930" y="0"/>
                </a:lnTo>
                <a:lnTo>
                  <a:pt x="9305930" y="5717753"/>
                </a:lnTo>
                <a:lnTo>
                  <a:pt x="0" y="5717753"/>
                </a:lnTo>
                <a:lnTo>
                  <a:pt x="0" y="0"/>
                </a:lnTo>
                <a:close/>
              </a:path>
            </a:pathLst>
          </a:custGeom>
          <a:blipFill>
            <a:blip r:embed="rId5"/>
            <a:stretch>
              <a:fillRect l="-4687" t="0" r="-2126" b="0"/>
            </a:stretch>
          </a:blipFill>
          <a:ln w="9525" cap="sq">
            <a:solidFill>
              <a:srgbClr val="000000"/>
            </a:solidFill>
            <a:prstDash val="solid"/>
            <a:miter/>
          </a:ln>
        </p:spPr>
      </p:sp>
      <p:sp>
        <p:nvSpPr>
          <p:cNvPr name="TextBox 26" id="26"/>
          <p:cNvSpPr txBox="true"/>
          <p:nvPr/>
        </p:nvSpPr>
        <p:spPr>
          <a:xfrm rot="0">
            <a:off x="917227" y="525810"/>
            <a:ext cx="5348287" cy="673100"/>
          </a:xfrm>
          <a:prstGeom prst="rect">
            <a:avLst/>
          </a:prstGeom>
        </p:spPr>
        <p:txBody>
          <a:bodyPr anchor="t" rtlCol="false" tIns="0" lIns="0" bIns="0" rIns="0">
            <a:spAutoFit/>
          </a:bodyPr>
          <a:lstStyle/>
          <a:p>
            <a:pPr algn="l">
              <a:lnSpc>
                <a:spcPts val="4750"/>
              </a:lnSpc>
            </a:pPr>
            <a:r>
              <a:rPr lang="en-US" sz="3749" b="true">
                <a:solidFill>
                  <a:srgbClr val="2E3C4E"/>
                </a:solidFill>
                <a:latin typeface="Times New Roman MT Bold"/>
                <a:ea typeface="Times New Roman MT Bold"/>
                <a:cs typeface="Times New Roman MT Bold"/>
                <a:sym typeface="Times New Roman MT Bold"/>
              </a:rPr>
              <a:t>Challenges and Solutions</a:t>
            </a:r>
          </a:p>
        </p:txBody>
      </p:sp>
      <p:sp>
        <p:nvSpPr>
          <p:cNvPr name="TextBox 27" id="27"/>
          <p:cNvSpPr txBox="true"/>
          <p:nvPr/>
        </p:nvSpPr>
        <p:spPr>
          <a:xfrm rot="0">
            <a:off x="847426" y="1767309"/>
            <a:ext cx="2645866" cy="327025"/>
          </a:xfrm>
          <a:prstGeom prst="rect">
            <a:avLst/>
          </a:prstGeom>
        </p:spPr>
        <p:txBody>
          <a:bodyPr anchor="t" rtlCol="false" tIns="0" lIns="0" bIns="0" rIns="0">
            <a:spAutoFit/>
          </a:bodyPr>
          <a:lstStyle/>
          <a:p>
            <a:pPr algn="l">
              <a:lnSpc>
                <a:spcPts val="2375"/>
              </a:lnSpc>
            </a:pPr>
            <a:r>
              <a:rPr lang="en-US" sz="1874" b="true">
                <a:solidFill>
                  <a:srgbClr val="384653"/>
                </a:solidFill>
                <a:latin typeface="Times New Roman MT Bold"/>
                <a:ea typeface="Times New Roman MT Bold"/>
                <a:cs typeface="Times New Roman MT Bold"/>
                <a:sym typeface="Times New Roman MT Bold"/>
              </a:rPr>
              <a:t>GPU Memory Constraints</a:t>
            </a:r>
          </a:p>
        </p:txBody>
      </p:sp>
      <p:sp>
        <p:nvSpPr>
          <p:cNvPr name="TextBox 28" id="28"/>
          <p:cNvSpPr txBox="true"/>
          <p:nvPr/>
        </p:nvSpPr>
        <p:spPr>
          <a:xfrm rot="0">
            <a:off x="847426" y="2223766"/>
            <a:ext cx="7541121" cy="561975"/>
          </a:xfrm>
          <a:prstGeom prst="rect">
            <a:avLst/>
          </a:prstGeom>
        </p:spPr>
        <p:txBody>
          <a:bodyPr anchor="t" rtlCol="false" tIns="0" lIns="0" bIns="0" rIns="0">
            <a:spAutoFit/>
          </a:bodyPr>
          <a:lstStyle/>
          <a:p>
            <a:pPr algn="l">
              <a:lnSpc>
                <a:spcPts val="2249"/>
              </a:lnSpc>
            </a:pPr>
            <a:r>
              <a:rPr lang="en-US" sz="1437" b="true">
                <a:solidFill>
                  <a:srgbClr val="384653"/>
                </a:solidFill>
                <a:latin typeface="Times New Roman MT Bold"/>
                <a:ea typeface="Times New Roman MT Bold"/>
                <a:cs typeface="Times New Roman MT Bold"/>
                <a:sym typeface="Times New Roman MT Bold"/>
              </a:rPr>
              <a:t>Challenge:</a:t>
            </a:r>
            <a:r>
              <a:rPr lang="en-US" sz="1437">
                <a:solidFill>
                  <a:srgbClr val="384653"/>
                </a:solidFill>
                <a:latin typeface="Times New Roman MT"/>
                <a:ea typeface="Times New Roman MT"/>
                <a:cs typeface="Times New Roman MT"/>
                <a:sym typeface="Times New Roman MT"/>
              </a:rPr>
              <a:t> Limited GPU memory in Google Colab environment restricted model size and batch processing.</a:t>
            </a:r>
          </a:p>
        </p:txBody>
      </p:sp>
      <p:sp>
        <p:nvSpPr>
          <p:cNvPr name="TextBox 29" id="29"/>
          <p:cNvSpPr txBox="true"/>
          <p:nvPr/>
        </p:nvSpPr>
        <p:spPr>
          <a:xfrm rot="0">
            <a:off x="847426" y="2975794"/>
            <a:ext cx="7541121" cy="561975"/>
          </a:xfrm>
          <a:prstGeom prst="rect">
            <a:avLst/>
          </a:prstGeom>
        </p:spPr>
        <p:txBody>
          <a:bodyPr anchor="t" rtlCol="false" tIns="0" lIns="0" bIns="0" rIns="0">
            <a:spAutoFit/>
          </a:bodyPr>
          <a:lstStyle/>
          <a:p>
            <a:pPr algn="l">
              <a:lnSpc>
                <a:spcPts val="2249"/>
              </a:lnSpc>
            </a:pPr>
            <a:r>
              <a:rPr lang="en-US" sz="1437" b="true">
                <a:solidFill>
                  <a:srgbClr val="384653"/>
                </a:solidFill>
                <a:latin typeface="Times New Roman MT Bold"/>
                <a:ea typeface="Times New Roman MT Bold"/>
                <a:cs typeface="Times New Roman MT Bold"/>
                <a:sym typeface="Times New Roman MT Bold"/>
              </a:rPr>
              <a:t>Solution:</a:t>
            </a:r>
            <a:r>
              <a:rPr lang="en-US" sz="1437">
                <a:solidFill>
                  <a:srgbClr val="384653"/>
                </a:solidFill>
                <a:latin typeface="Times New Roman MT"/>
                <a:ea typeface="Times New Roman MT"/>
                <a:cs typeface="Times New Roman MT"/>
                <a:sym typeface="Times New Roman MT"/>
              </a:rPr>
              <a:t> Designed compact model with 256 dimensions and 3 layers; used batch size of 4 with mixed precision training.</a:t>
            </a:r>
          </a:p>
        </p:txBody>
      </p:sp>
      <p:sp>
        <p:nvSpPr>
          <p:cNvPr name="TextBox 30" id="30"/>
          <p:cNvSpPr txBox="true"/>
          <p:nvPr/>
        </p:nvSpPr>
        <p:spPr>
          <a:xfrm rot="0">
            <a:off x="847426" y="4179516"/>
            <a:ext cx="2739926" cy="327025"/>
          </a:xfrm>
          <a:prstGeom prst="rect">
            <a:avLst/>
          </a:prstGeom>
        </p:spPr>
        <p:txBody>
          <a:bodyPr anchor="t" rtlCol="false" tIns="0" lIns="0" bIns="0" rIns="0">
            <a:spAutoFit/>
          </a:bodyPr>
          <a:lstStyle/>
          <a:p>
            <a:pPr algn="l">
              <a:lnSpc>
                <a:spcPts val="2375"/>
              </a:lnSpc>
            </a:pPr>
            <a:r>
              <a:rPr lang="en-US" sz="1874" b="true">
                <a:solidFill>
                  <a:srgbClr val="384653"/>
                </a:solidFill>
                <a:latin typeface="Times New Roman MT Bold"/>
                <a:ea typeface="Times New Roman MT Bold"/>
                <a:cs typeface="Times New Roman MT Bold"/>
                <a:sym typeface="Times New Roman MT Bold"/>
              </a:rPr>
              <a:t>Small Dataset Limitations</a:t>
            </a:r>
          </a:p>
        </p:txBody>
      </p:sp>
      <p:sp>
        <p:nvSpPr>
          <p:cNvPr name="TextBox 31" id="31"/>
          <p:cNvSpPr txBox="true"/>
          <p:nvPr/>
        </p:nvSpPr>
        <p:spPr>
          <a:xfrm rot="0">
            <a:off x="847426" y="4635972"/>
            <a:ext cx="7541121" cy="285750"/>
          </a:xfrm>
          <a:prstGeom prst="rect">
            <a:avLst/>
          </a:prstGeom>
        </p:spPr>
        <p:txBody>
          <a:bodyPr anchor="t" rtlCol="false" tIns="0" lIns="0" bIns="0" rIns="0">
            <a:spAutoFit/>
          </a:bodyPr>
          <a:lstStyle/>
          <a:p>
            <a:pPr algn="l">
              <a:lnSpc>
                <a:spcPts val="2249"/>
              </a:lnSpc>
            </a:pPr>
            <a:r>
              <a:rPr lang="en-US" sz="1437" b="true">
                <a:solidFill>
                  <a:srgbClr val="384653"/>
                </a:solidFill>
                <a:latin typeface="Times New Roman MT Bold"/>
                <a:ea typeface="Times New Roman MT Bold"/>
                <a:cs typeface="Times New Roman MT Bold"/>
                <a:sym typeface="Times New Roman MT Bold"/>
              </a:rPr>
              <a:t>Challenge:</a:t>
            </a:r>
            <a:r>
              <a:rPr lang="en-US" sz="1437">
                <a:solidFill>
                  <a:srgbClr val="384653"/>
                </a:solidFill>
                <a:latin typeface="Times New Roman MT"/>
                <a:ea typeface="Times New Roman MT"/>
                <a:cs typeface="Times New Roman MT"/>
                <a:sym typeface="Times New Roman MT"/>
              </a:rPr>
              <a:t> Only ~5,000 samples without pre-training led to moderate ROUGE scores.</a:t>
            </a:r>
          </a:p>
        </p:txBody>
      </p:sp>
      <p:sp>
        <p:nvSpPr>
          <p:cNvPr name="TextBox 32" id="32"/>
          <p:cNvSpPr txBox="true"/>
          <p:nvPr/>
        </p:nvSpPr>
        <p:spPr>
          <a:xfrm rot="0">
            <a:off x="847426" y="5388001"/>
            <a:ext cx="7541121" cy="561975"/>
          </a:xfrm>
          <a:prstGeom prst="rect">
            <a:avLst/>
          </a:prstGeom>
        </p:spPr>
        <p:txBody>
          <a:bodyPr anchor="t" rtlCol="false" tIns="0" lIns="0" bIns="0" rIns="0">
            <a:spAutoFit/>
          </a:bodyPr>
          <a:lstStyle/>
          <a:p>
            <a:pPr algn="l">
              <a:lnSpc>
                <a:spcPts val="2249"/>
              </a:lnSpc>
            </a:pPr>
            <a:r>
              <a:rPr lang="en-US" sz="1437" b="true">
                <a:solidFill>
                  <a:srgbClr val="384653"/>
                </a:solidFill>
                <a:latin typeface="Times New Roman MT Bold"/>
                <a:ea typeface="Times New Roman MT Bold"/>
                <a:cs typeface="Times New Roman MT Bold"/>
                <a:sym typeface="Times New Roman MT Bold"/>
              </a:rPr>
              <a:t>Solution:</a:t>
            </a:r>
            <a:r>
              <a:rPr lang="en-US" sz="1437">
                <a:solidFill>
                  <a:srgbClr val="384653"/>
                </a:solidFill>
                <a:latin typeface="Times New Roman MT"/>
                <a:ea typeface="Times New Roman MT"/>
                <a:cs typeface="Times New Roman MT"/>
                <a:sym typeface="Times New Roman MT"/>
              </a:rPr>
              <a:t> Focused on educational demonstration; suggested future work with larger datasets and pre-trained models.</a:t>
            </a:r>
          </a:p>
        </p:txBody>
      </p:sp>
      <p:sp>
        <p:nvSpPr>
          <p:cNvPr name="TextBox 33" id="33"/>
          <p:cNvSpPr txBox="true"/>
          <p:nvPr/>
        </p:nvSpPr>
        <p:spPr>
          <a:xfrm rot="0">
            <a:off x="847426" y="6591722"/>
            <a:ext cx="2413992" cy="327025"/>
          </a:xfrm>
          <a:prstGeom prst="rect">
            <a:avLst/>
          </a:prstGeom>
        </p:spPr>
        <p:txBody>
          <a:bodyPr anchor="t" rtlCol="false" tIns="0" lIns="0" bIns="0" rIns="0">
            <a:spAutoFit/>
          </a:bodyPr>
          <a:lstStyle/>
          <a:p>
            <a:pPr algn="l">
              <a:lnSpc>
                <a:spcPts val="2375"/>
              </a:lnSpc>
            </a:pPr>
            <a:r>
              <a:rPr lang="en-US" sz="1874" b="true">
                <a:solidFill>
                  <a:srgbClr val="384653"/>
                </a:solidFill>
                <a:latin typeface="Times New Roman MT Bold"/>
                <a:ea typeface="Times New Roman MT Bold"/>
                <a:cs typeface="Times New Roman MT Bold"/>
                <a:sym typeface="Times New Roman MT Bold"/>
              </a:rPr>
              <a:t>Slow Inference Speed</a:t>
            </a:r>
          </a:p>
        </p:txBody>
      </p:sp>
      <p:sp>
        <p:nvSpPr>
          <p:cNvPr name="TextBox 34" id="34"/>
          <p:cNvSpPr txBox="true"/>
          <p:nvPr/>
        </p:nvSpPr>
        <p:spPr>
          <a:xfrm rot="0">
            <a:off x="847426" y="7048178"/>
            <a:ext cx="7541121" cy="285750"/>
          </a:xfrm>
          <a:prstGeom prst="rect">
            <a:avLst/>
          </a:prstGeom>
        </p:spPr>
        <p:txBody>
          <a:bodyPr anchor="t" rtlCol="false" tIns="0" lIns="0" bIns="0" rIns="0">
            <a:spAutoFit/>
          </a:bodyPr>
          <a:lstStyle/>
          <a:p>
            <a:pPr algn="l">
              <a:lnSpc>
                <a:spcPts val="2249"/>
              </a:lnSpc>
            </a:pPr>
            <a:r>
              <a:rPr lang="en-US" sz="1437" b="true">
                <a:solidFill>
                  <a:srgbClr val="384653"/>
                </a:solidFill>
                <a:latin typeface="Times New Roman MT Bold"/>
                <a:ea typeface="Times New Roman MT Bold"/>
                <a:cs typeface="Times New Roman MT Bold"/>
                <a:sym typeface="Times New Roman MT Bold"/>
              </a:rPr>
              <a:t>Challenge:</a:t>
            </a:r>
            <a:r>
              <a:rPr lang="en-US" sz="1437">
                <a:solidFill>
                  <a:srgbClr val="384653"/>
                </a:solidFill>
                <a:latin typeface="Times New Roman MT"/>
                <a:ea typeface="Times New Roman MT"/>
                <a:cs typeface="Times New Roman MT"/>
                <a:sym typeface="Times New Roman MT"/>
              </a:rPr>
              <a:t> Token-by-token generation resulted in 10-20 second processing times.</a:t>
            </a:r>
          </a:p>
        </p:txBody>
      </p:sp>
      <p:sp>
        <p:nvSpPr>
          <p:cNvPr name="TextBox 35" id="35"/>
          <p:cNvSpPr txBox="true"/>
          <p:nvPr/>
        </p:nvSpPr>
        <p:spPr>
          <a:xfrm rot="0">
            <a:off x="847426" y="7506718"/>
            <a:ext cx="7541121" cy="285750"/>
          </a:xfrm>
          <a:prstGeom prst="rect">
            <a:avLst/>
          </a:prstGeom>
        </p:spPr>
        <p:txBody>
          <a:bodyPr anchor="t" rtlCol="false" tIns="0" lIns="0" bIns="0" rIns="0">
            <a:spAutoFit/>
          </a:bodyPr>
          <a:lstStyle/>
          <a:p>
            <a:pPr algn="l">
              <a:lnSpc>
                <a:spcPts val="2249"/>
              </a:lnSpc>
            </a:pPr>
            <a:r>
              <a:rPr lang="en-US" sz="1437" b="true">
                <a:solidFill>
                  <a:srgbClr val="384653"/>
                </a:solidFill>
                <a:latin typeface="Times New Roman MT Bold"/>
                <a:ea typeface="Times New Roman MT Bold"/>
                <a:cs typeface="Times New Roman MT Bold"/>
                <a:sym typeface="Times New Roman MT Bold"/>
              </a:rPr>
              <a:t>Solution:</a:t>
            </a:r>
            <a:r>
              <a:rPr lang="en-US" sz="1437">
                <a:solidFill>
                  <a:srgbClr val="384653"/>
                </a:solidFill>
                <a:latin typeface="Times New Roman MT"/>
                <a:ea typeface="Times New Roman MT"/>
                <a:cs typeface="Times New Roman MT"/>
                <a:sym typeface="Times New Roman MT"/>
              </a:rPr>
              <a:t> Implemented greedy decoding; recommended beam search for future improvements.</a:t>
            </a:r>
          </a:p>
        </p:txBody>
      </p:sp>
      <p:sp>
        <p:nvSpPr>
          <p:cNvPr name="TextBox 36" id="36"/>
          <p:cNvSpPr txBox="true"/>
          <p:nvPr/>
        </p:nvSpPr>
        <p:spPr>
          <a:xfrm rot="0">
            <a:off x="1164728" y="8801522"/>
            <a:ext cx="7223820" cy="838200"/>
          </a:xfrm>
          <a:prstGeom prst="rect">
            <a:avLst/>
          </a:prstGeom>
        </p:spPr>
        <p:txBody>
          <a:bodyPr anchor="t" rtlCol="false" tIns="0" lIns="0" bIns="0" rIns="0">
            <a:spAutoFit/>
          </a:bodyPr>
          <a:lstStyle/>
          <a:p>
            <a:pPr algn="l">
              <a:lnSpc>
                <a:spcPts val="2249"/>
              </a:lnSpc>
            </a:pPr>
            <a:r>
              <a:rPr lang="en-US" sz="1437" b="true">
                <a:solidFill>
                  <a:srgbClr val="000000"/>
                </a:solidFill>
                <a:latin typeface="Times New Roman MT Bold"/>
                <a:ea typeface="Times New Roman MT Bold"/>
                <a:cs typeface="Times New Roman MT Bold"/>
                <a:sym typeface="Times New Roman MT Bold"/>
              </a:rPr>
              <a:t>Key Learning:</a:t>
            </a:r>
            <a:r>
              <a:rPr lang="en-US" sz="1437">
                <a:solidFill>
                  <a:srgbClr val="000000"/>
                </a:solidFill>
                <a:latin typeface="Times New Roman MT"/>
                <a:ea typeface="Times New Roman MT"/>
                <a:cs typeface="Times New Roman MT"/>
                <a:sym typeface="Times New Roman MT"/>
              </a:rPr>
              <a:t> Building a Transformer from scratch provided deep insights into attention mechanisms and sequence modeling, despite performance trade-offs compared to pre-trained models like T5.</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FFFFF"/>
            </a:solidFill>
          </p:spPr>
        </p:sp>
      </p:grpSp>
      <p:sp>
        <p:nvSpPr>
          <p:cNvPr name="TextBox 6" id="6"/>
          <p:cNvSpPr txBox="true"/>
          <p:nvPr/>
        </p:nvSpPr>
        <p:spPr>
          <a:xfrm rot="0">
            <a:off x="947886" y="739527"/>
            <a:ext cx="7998173" cy="869950"/>
          </a:xfrm>
          <a:prstGeom prst="rect">
            <a:avLst/>
          </a:prstGeom>
        </p:spPr>
        <p:txBody>
          <a:bodyPr anchor="t" rtlCol="false" tIns="0" lIns="0" bIns="0" rIns="0">
            <a:spAutoFit/>
          </a:bodyPr>
          <a:lstStyle/>
          <a:p>
            <a:pPr algn="l">
              <a:lnSpc>
                <a:spcPts val="6125"/>
              </a:lnSpc>
            </a:pPr>
            <a:r>
              <a:rPr lang="en-US" sz="4875" b="true">
                <a:solidFill>
                  <a:srgbClr val="2E3C4E"/>
                </a:solidFill>
                <a:latin typeface="Times New Roman MT Bold"/>
                <a:ea typeface="Times New Roman MT Bold"/>
                <a:cs typeface="Times New Roman MT Bold"/>
                <a:sym typeface="Times New Roman MT Bold"/>
              </a:rPr>
              <a:t>Future Directions and Impact</a:t>
            </a:r>
          </a:p>
        </p:txBody>
      </p:sp>
      <p:grpSp>
        <p:nvGrpSpPr>
          <p:cNvPr name="Group 7" id="7"/>
          <p:cNvGrpSpPr>
            <a:grpSpLocks noChangeAspect="true"/>
          </p:cNvGrpSpPr>
          <p:nvPr/>
        </p:nvGrpSpPr>
        <p:grpSpPr>
          <a:xfrm rot="0">
            <a:off x="947886" y="2126159"/>
            <a:ext cx="710804" cy="710804"/>
            <a:chOff x="0" y="0"/>
            <a:chExt cx="947738" cy="947738"/>
          </a:xfrm>
        </p:grpSpPr>
        <p:sp>
          <p:nvSpPr>
            <p:cNvPr name="Freeform 8" id="8" descr="preencoded.png"/>
            <p:cNvSpPr/>
            <p:nvPr/>
          </p:nvSpPr>
          <p:spPr>
            <a:xfrm flipH="false" flipV="false" rot="0">
              <a:off x="0" y="0"/>
              <a:ext cx="947801" cy="947801"/>
            </a:xfrm>
            <a:custGeom>
              <a:avLst/>
              <a:gdLst/>
              <a:ahLst/>
              <a:cxnLst/>
              <a:rect r="r" b="b" t="t" l="l"/>
              <a:pathLst>
                <a:path h="947801" w="947801">
                  <a:moveTo>
                    <a:pt x="0" y="0"/>
                  </a:moveTo>
                  <a:lnTo>
                    <a:pt x="947801" y="0"/>
                  </a:lnTo>
                  <a:lnTo>
                    <a:pt x="947801" y="947801"/>
                  </a:lnTo>
                  <a:lnTo>
                    <a:pt x="0" y="947801"/>
                  </a:lnTo>
                  <a:lnTo>
                    <a:pt x="0" y="0"/>
                  </a:lnTo>
                  <a:close/>
                </a:path>
              </a:pathLst>
            </a:custGeom>
            <a:blipFill>
              <a:blip r:embed="rId4"/>
              <a:stretch>
                <a:fillRect l="0" t="0" r="6" b="6"/>
              </a:stretch>
            </a:blipFill>
          </p:spPr>
        </p:sp>
      </p:grpSp>
      <p:sp>
        <p:nvSpPr>
          <p:cNvPr name="TextBox 9" id="9"/>
          <p:cNvSpPr txBox="true"/>
          <p:nvPr/>
        </p:nvSpPr>
        <p:spPr>
          <a:xfrm rot="0">
            <a:off x="1954858" y="2259360"/>
            <a:ext cx="4114651" cy="430213"/>
          </a:xfrm>
          <a:prstGeom prst="rect">
            <a:avLst/>
          </a:prstGeom>
        </p:spPr>
        <p:txBody>
          <a:bodyPr anchor="t" rtlCol="false" tIns="0" lIns="0" bIns="0" rIns="0">
            <a:spAutoFit/>
          </a:bodyPr>
          <a:lstStyle/>
          <a:p>
            <a:pPr algn="l">
              <a:lnSpc>
                <a:spcPts val="3062"/>
              </a:lnSpc>
            </a:pPr>
            <a:r>
              <a:rPr lang="en-US" sz="2437" b="true">
                <a:solidFill>
                  <a:srgbClr val="384653"/>
                </a:solidFill>
                <a:latin typeface="Times New Roman MT Bold"/>
                <a:ea typeface="Times New Roman MT Bold"/>
                <a:cs typeface="Times New Roman MT Bold"/>
                <a:sym typeface="Times New Roman MT Bold"/>
              </a:rPr>
              <a:t>Enhanced Model Performance</a:t>
            </a:r>
          </a:p>
        </p:txBody>
      </p:sp>
      <p:sp>
        <p:nvSpPr>
          <p:cNvPr name="TextBox 10" id="10"/>
          <p:cNvSpPr txBox="true"/>
          <p:nvPr/>
        </p:nvSpPr>
        <p:spPr>
          <a:xfrm rot="0">
            <a:off x="1954858" y="2743498"/>
            <a:ext cx="4259610" cy="1503362"/>
          </a:xfrm>
          <a:prstGeom prst="rect">
            <a:avLst/>
          </a:prstGeom>
        </p:spPr>
        <p:txBody>
          <a:bodyPr anchor="t" rtlCol="false" tIns="0" lIns="0" bIns="0" rIns="0">
            <a:spAutoFit/>
          </a:bodyPr>
          <a:lstStyle/>
          <a:p>
            <a:pPr algn="l">
              <a:lnSpc>
                <a:spcPts val="2937"/>
              </a:lnSpc>
            </a:pPr>
            <a:r>
              <a:rPr lang="en-US" sz="1812">
                <a:solidFill>
                  <a:srgbClr val="384653"/>
                </a:solidFill>
                <a:latin typeface="Times New Roman MT"/>
                <a:ea typeface="Times New Roman MT"/>
                <a:cs typeface="Times New Roman MT"/>
                <a:sym typeface="Times New Roman MT"/>
              </a:rPr>
              <a:t>Implement beam search decoding, increase training epochs, and expand dataset size. Consider leveraging pre-trained models like T5 for improved ROUGE scores.</a:t>
            </a:r>
          </a:p>
        </p:txBody>
      </p:sp>
      <p:grpSp>
        <p:nvGrpSpPr>
          <p:cNvPr name="Group 11" id="11"/>
          <p:cNvGrpSpPr>
            <a:grpSpLocks noChangeAspect="true"/>
          </p:cNvGrpSpPr>
          <p:nvPr/>
        </p:nvGrpSpPr>
        <p:grpSpPr>
          <a:xfrm rot="0">
            <a:off x="6510635" y="2126159"/>
            <a:ext cx="710804" cy="710804"/>
            <a:chOff x="0" y="0"/>
            <a:chExt cx="947738" cy="947738"/>
          </a:xfrm>
        </p:grpSpPr>
        <p:sp>
          <p:nvSpPr>
            <p:cNvPr name="Freeform 12" id="12" descr="preencoded.png"/>
            <p:cNvSpPr/>
            <p:nvPr/>
          </p:nvSpPr>
          <p:spPr>
            <a:xfrm flipH="false" flipV="false" rot="0">
              <a:off x="0" y="0"/>
              <a:ext cx="947801" cy="947801"/>
            </a:xfrm>
            <a:custGeom>
              <a:avLst/>
              <a:gdLst/>
              <a:ahLst/>
              <a:cxnLst/>
              <a:rect r="r" b="b" t="t" l="l"/>
              <a:pathLst>
                <a:path h="947801" w="947801">
                  <a:moveTo>
                    <a:pt x="0" y="0"/>
                  </a:moveTo>
                  <a:lnTo>
                    <a:pt x="947801" y="0"/>
                  </a:lnTo>
                  <a:lnTo>
                    <a:pt x="947801" y="947801"/>
                  </a:lnTo>
                  <a:lnTo>
                    <a:pt x="0" y="947801"/>
                  </a:lnTo>
                  <a:lnTo>
                    <a:pt x="0" y="0"/>
                  </a:lnTo>
                  <a:close/>
                </a:path>
              </a:pathLst>
            </a:custGeom>
            <a:blipFill>
              <a:blip r:embed="rId5"/>
              <a:stretch>
                <a:fillRect l="0" t="0" r="6" b="6"/>
              </a:stretch>
            </a:blipFill>
          </p:spPr>
        </p:sp>
      </p:grpSp>
      <p:sp>
        <p:nvSpPr>
          <p:cNvPr name="TextBox 13" id="13"/>
          <p:cNvSpPr txBox="true"/>
          <p:nvPr/>
        </p:nvSpPr>
        <p:spPr>
          <a:xfrm rot="0">
            <a:off x="7517606" y="2259360"/>
            <a:ext cx="3117949" cy="430213"/>
          </a:xfrm>
          <a:prstGeom prst="rect">
            <a:avLst/>
          </a:prstGeom>
        </p:spPr>
        <p:txBody>
          <a:bodyPr anchor="t" rtlCol="false" tIns="0" lIns="0" bIns="0" rIns="0">
            <a:spAutoFit/>
          </a:bodyPr>
          <a:lstStyle/>
          <a:p>
            <a:pPr algn="l">
              <a:lnSpc>
                <a:spcPts val="3062"/>
              </a:lnSpc>
            </a:pPr>
            <a:r>
              <a:rPr lang="en-US" sz="2437" b="true">
                <a:solidFill>
                  <a:srgbClr val="384653"/>
                </a:solidFill>
                <a:latin typeface="Times New Roman MT Bold"/>
                <a:ea typeface="Times New Roman MT Bold"/>
                <a:cs typeface="Times New Roman MT Bold"/>
                <a:sym typeface="Times New Roman MT Bold"/>
              </a:rPr>
              <a:t>Additional Metrics</a:t>
            </a:r>
          </a:p>
        </p:txBody>
      </p:sp>
      <p:sp>
        <p:nvSpPr>
          <p:cNvPr name="TextBox 14" id="14"/>
          <p:cNvSpPr txBox="true"/>
          <p:nvPr/>
        </p:nvSpPr>
        <p:spPr>
          <a:xfrm rot="0">
            <a:off x="7517606" y="2743498"/>
            <a:ext cx="4259610" cy="1503362"/>
          </a:xfrm>
          <a:prstGeom prst="rect">
            <a:avLst/>
          </a:prstGeom>
        </p:spPr>
        <p:txBody>
          <a:bodyPr anchor="t" rtlCol="false" tIns="0" lIns="0" bIns="0" rIns="0">
            <a:spAutoFit/>
          </a:bodyPr>
          <a:lstStyle/>
          <a:p>
            <a:pPr algn="l">
              <a:lnSpc>
                <a:spcPts val="2937"/>
              </a:lnSpc>
            </a:pPr>
            <a:r>
              <a:rPr lang="en-US" sz="1812">
                <a:solidFill>
                  <a:srgbClr val="384653"/>
                </a:solidFill>
                <a:latin typeface="Times New Roman MT"/>
                <a:ea typeface="Times New Roman MT"/>
                <a:cs typeface="Times New Roman MT"/>
                <a:sym typeface="Times New Roman MT"/>
              </a:rPr>
              <a:t>Incorporate BLEU scores alongside ROUGE for comprehensive evaluation. Add human evaluation studies with healthcare professionals.</a:t>
            </a:r>
          </a:p>
        </p:txBody>
      </p:sp>
      <p:grpSp>
        <p:nvGrpSpPr>
          <p:cNvPr name="Group 15" id="15"/>
          <p:cNvGrpSpPr>
            <a:grpSpLocks noChangeAspect="true"/>
          </p:cNvGrpSpPr>
          <p:nvPr/>
        </p:nvGrpSpPr>
        <p:grpSpPr>
          <a:xfrm rot="0">
            <a:off x="12073384" y="2126159"/>
            <a:ext cx="710804" cy="710804"/>
            <a:chOff x="0" y="0"/>
            <a:chExt cx="947738" cy="947738"/>
          </a:xfrm>
        </p:grpSpPr>
        <p:sp>
          <p:nvSpPr>
            <p:cNvPr name="Freeform 16" id="16" descr="preencoded.png"/>
            <p:cNvSpPr/>
            <p:nvPr/>
          </p:nvSpPr>
          <p:spPr>
            <a:xfrm flipH="false" flipV="false" rot="0">
              <a:off x="0" y="0"/>
              <a:ext cx="947801" cy="947801"/>
            </a:xfrm>
            <a:custGeom>
              <a:avLst/>
              <a:gdLst/>
              <a:ahLst/>
              <a:cxnLst/>
              <a:rect r="r" b="b" t="t" l="l"/>
              <a:pathLst>
                <a:path h="947801" w="947801">
                  <a:moveTo>
                    <a:pt x="0" y="0"/>
                  </a:moveTo>
                  <a:lnTo>
                    <a:pt x="947801" y="0"/>
                  </a:lnTo>
                  <a:lnTo>
                    <a:pt x="947801" y="947801"/>
                  </a:lnTo>
                  <a:lnTo>
                    <a:pt x="0" y="947801"/>
                  </a:lnTo>
                  <a:lnTo>
                    <a:pt x="0" y="0"/>
                  </a:lnTo>
                  <a:close/>
                </a:path>
              </a:pathLst>
            </a:custGeom>
            <a:blipFill>
              <a:blip r:embed="rId6"/>
              <a:stretch>
                <a:fillRect l="0" t="0" r="6" b="6"/>
              </a:stretch>
            </a:blipFill>
          </p:spPr>
        </p:sp>
      </p:grpSp>
      <p:sp>
        <p:nvSpPr>
          <p:cNvPr name="TextBox 17" id="17"/>
          <p:cNvSpPr txBox="true"/>
          <p:nvPr/>
        </p:nvSpPr>
        <p:spPr>
          <a:xfrm rot="0">
            <a:off x="13080355" y="2259360"/>
            <a:ext cx="3248917" cy="430213"/>
          </a:xfrm>
          <a:prstGeom prst="rect">
            <a:avLst/>
          </a:prstGeom>
        </p:spPr>
        <p:txBody>
          <a:bodyPr anchor="t" rtlCol="false" tIns="0" lIns="0" bIns="0" rIns="0">
            <a:spAutoFit/>
          </a:bodyPr>
          <a:lstStyle/>
          <a:p>
            <a:pPr algn="l">
              <a:lnSpc>
                <a:spcPts val="3062"/>
              </a:lnSpc>
            </a:pPr>
            <a:r>
              <a:rPr lang="en-US" sz="2437" b="true">
                <a:solidFill>
                  <a:srgbClr val="384653"/>
                </a:solidFill>
                <a:latin typeface="Times New Roman MT Bold"/>
                <a:ea typeface="Times New Roman MT Bold"/>
                <a:cs typeface="Times New Roman MT Bold"/>
                <a:sym typeface="Times New Roman MT Bold"/>
              </a:rPr>
              <a:t>Production Deployment</a:t>
            </a:r>
          </a:p>
        </p:txBody>
      </p:sp>
      <p:sp>
        <p:nvSpPr>
          <p:cNvPr name="TextBox 18" id="18"/>
          <p:cNvSpPr txBox="true"/>
          <p:nvPr/>
        </p:nvSpPr>
        <p:spPr>
          <a:xfrm rot="0">
            <a:off x="13080355" y="2743498"/>
            <a:ext cx="4259759" cy="1131888"/>
          </a:xfrm>
          <a:prstGeom prst="rect">
            <a:avLst/>
          </a:prstGeom>
        </p:spPr>
        <p:txBody>
          <a:bodyPr anchor="t" rtlCol="false" tIns="0" lIns="0" bIns="0" rIns="0">
            <a:spAutoFit/>
          </a:bodyPr>
          <a:lstStyle/>
          <a:p>
            <a:pPr algn="l">
              <a:lnSpc>
                <a:spcPts val="2937"/>
              </a:lnSpc>
            </a:pPr>
            <a:r>
              <a:rPr lang="en-US" sz="1812">
                <a:solidFill>
                  <a:srgbClr val="384653"/>
                </a:solidFill>
                <a:latin typeface="Times New Roman MT"/>
                <a:ea typeface="Times New Roman MT"/>
                <a:cs typeface="Times New Roman MT"/>
                <a:sym typeface="Times New Roman MT"/>
              </a:rPr>
              <a:t>Develop user-friendly web application using Streamlit or Flask for broader accessibility in clinical settings.</a:t>
            </a:r>
          </a:p>
        </p:txBody>
      </p:sp>
      <p:grpSp>
        <p:nvGrpSpPr>
          <p:cNvPr name="Group 19" id="19"/>
          <p:cNvGrpSpPr/>
          <p:nvPr/>
        </p:nvGrpSpPr>
        <p:grpSpPr>
          <a:xfrm rot="0">
            <a:off x="947886" y="5138152"/>
            <a:ext cx="16392228" cy="39141"/>
            <a:chOff x="0" y="0"/>
            <a:chExt cx="21856303" cy="52188"/>
          </a:xfrm>
        </p:grpSpPr>
        <p:sp>
          <p:nvSpPr>
            <p:cNvPr name="Freeform 20" id="20"/>
            <p:cNvSpPr/>
            <p:nvPr/>
          </p:nvSpPr>
          <p:spPr>
            <a:xfrm flipH="false" flipV="false" rot="0">
              <a:off x="0" y="0"/>
              <a:ext cx="21856319" cy="52197"/>
            </a:xfrm>
            <a:custGeom>
              <a:avLst/>
              <a:gdLst/>
              <a:ahLst/>
              <a:cxnLst/>
              <a:rect r="r" b="b" t="t" l="l"/>
              <a:pathLst>
                <a:path h="52197" w="21856319">
                  <a:moveTo>
                    <a:pt x="0" y="0"/>
                  </a:moveTo>
                  <a:lnTo>
                    <a:pt x="21856319" y="0"/>
                  </a:lnTo>
                  <a:lnTo>
                    <a:pt x="21856319" y="52197"/>
                  </a:lnTo>
                  <a:lnTo>
                    <a:pt x="0" y="52197"/>
                  </a:lnTo>
                  <a:close/>
                </a:path>
              </a:pathLst>
            </a:custGeom>
            <a:solidFill>
              <a:srgbClr val="384653">
                <a:alpha val="24706"/>
              </a:srgbClr>
            </a:solidFill>
          </p:spPr>
        </p:sp>
      </p:grpSp>
      <p:sp>
        <p:nvSpPr>
          <p:cNvPr name="TextBox 21" id="21"/>
          <p:cNvSpPr txBox="true"/>
          <p:nvPr/>
        </p:nvSpPr>
        <p:spPr>
          <a:xfrm rot="0">
            <a:off x="947886" y="5427910"/>
            <a:ext cx="4988868" cy="695325"/>
          </a:xfrm>
          <a:prstGeom prst="rect">
            <a:avLst/>
          </a:prstGeom>
        </p:spPr>
        <p:txBody>
          <a:bodyPr anchor="t" rtlCol="false" tIns="0" lIns="0" bIns="0" rIns="0">
            <a:spAutoFit/>
          </a:bodyPr>
          <a:lstStyle/>
          <a:p>
            <a:pPr algn="l">
              <a:lnSpc>
                <a:spcPts val="4875"/>
              </a:lnSpc>
            </a:pPr>
            <a:r>
              <a:rPr lang="en-US" sz="3875" b="true">
                <a:solidFill>
                  <a:srgbClr val="2E3C4E"/>
                </a:solidFill>
                <a:latin typeface="Times New Roman MT Bold"/>
                <a:ea typeface="Times New Roman MT Bold"/>
                <a:cs typeface="Times New Roman MT Bold"/>
                <a:sym typeface="Times New Roman MT Bold"/>
              </a:rPr>
              <a:t>Project Impact</a:t>
            </a:r>
          </a:p>
        </p:txBody>
      </p:sp>
      <p:sp>
        <p:nvSpPr>
          <p:cNvPr name="TextBox 22" id="22"/>
          <p:cNvSpPr txBox="true"/>
          <p:nvPr/>
        </p:nvSpPr>
        <p:spPr>
          <a:xfrm rot="0">
            <a:off x="947886" y="6378328"/>
            <a:ext cx="16392228" cy="1306359"/>
          </a:xfrm>
          <a:prstGeom prst="rect">
            <a:avLst/>
          </a:prstGeom>
        </p:spPr>
        <p:txBody>
          <a:bodyPr anchor="t" rtlCol="false" tIns="0" lIns="0" bIns="0" rIns="0">
            <a:spAutoFit/>
          </a:bodyPr>
          <a:lstStyle/>
          <a:p>
            <a:pPr algn="l">
              <a:lnSpc>
                <a:spcPts val="3423"/>
              </a:lnSpc>
            </a:pPr>
            <a:r>
              <a:rPr lang="en-US" sz="2112">
                <a:solidFill>
                  <a:srgbClr val="384653"/>
                </a:solidFill>
                <a:latin typeface="Times New Roman MT"/>
                <a:ea typeface="Times New Roman MT"/>
                <a:cs typeface="Times New Roman MT"/>
                <a:sym typeface="Times New Roman MT"/>
              </a:rPr>
              <a:t>This project successfully demonstrates the application of custom Transformer architecture for medical text summarization. By reducing the time required to interpret lengthy medical reports, our solution has potential to improve healthcare efficiency and support clinical decision-making.</a:t>
            </a:r>
          </a:p>
        </p:txBody>
      </p:sp>
      <p:sp>
        <p:nvSpPr>
          <p:cNvPr name="TextBox 23" id="23"/>
          <p:cNvSpPr txBox="true"/>
          <p:nvPr/>
        </p:nvSpPr>
        <p:spPr>
          <a:xfrm rot="0">
            <a:off x="947886" y="7782074"/>
            <a:ext cx="16392228" cy="877734"/>
          </a:xfrm>
          <a:prstGeom prst="rect">
            <a:avLst/>
          </a:prstGeom>
        </p:spPr>
        <p:txBody>
          <a:bodyPr anchor="t" rtlCol="false" tIns="0" lIns="0" bIns="0" rIns="0">
            <a:spAutoFit/>
          </a:bodyPr>
          <a:lstStyle/>
          <a:p>
            <a:pPr algn="l">
              <a:lnSpc>
                <a:spcPts val="3423"/>
              </a:lnSpc>
            </a:pPr>
            <a:r>
              <a:rPr lang="en-US" sz="2112" b="true">
                <a:solidFill>
                  <a:srgbClr val="384653"/>
                </a:solidFill>
                <a:latin typeface="Times New Roman MT Bold"/>
                <a:ea typeface="Times New Roman MT Bold"/>
                <a:cs typeface="Times New Roman MT Bold"/>
                <a:sym typeface="Times New Roman MT Bold"/>
              </a:rPr>
              <a:t>Key Achievements:</a:t>
            </a:r>
            <a:r>
              <a:rPr lang="en-US" sz="2112">
                <a:solidFill>
                  <a:srgbClr val="384653"/>
                </a:solidFill>
                <a:latin typeface="Times New Roman MT"/>
                <a:ea typeface="Times New Roman MT"/>
                <a:cs typeface="Times New Roman MT"/>
                <a:sym typeface="Times New Roman MT"/>
              </a:rPr>
              <a:t> Built and trained a complete Transformer model from scratch, gained deep understanding of attention mechanisms and NLP challenges in the medical domain, and created a functional prototype for automated medical report summarization.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1612031" y="2872274"/>
            <a:ext cx="15008400" cy="4040722"/>
          </a:xfrm>
          <a:prstGeom prst="rect">
            <a:avLst/>
          </a:prstGeom>
        </p:spPr>
        <p:txBody>
          <a:bodyPr anchor="t" rtlCol="false" tIns="0" lIns="0" bIns="0" rIns="0">
            <a:spAutoFit/>
          </a:bodyPr>
          <a:lstStyle/>
          <a:p>
            <a:pPr algn="l">
              <a:lnSpc>
                <a:spcPts val="28683"/>
              </a:lnSpc>
            </a:pPr>
            <a:r>
              <a:rPr lang="en-US" sz="22829" b="true">
                <a:solidFill>
                  <a:srgbClr val="2E3C4E"/>
                </a:solidFill>
                <a:latin typeface="Times New Roman MT Bold"/>
                <a:ea typeface="Times New Roman MT Bold"/>
                <a:cs typeface="Times New Roman MT Bold"/>
                <a:sym typeface="Times New Roman MT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DAG13tBVvY0</dc:identifier>
  <dcterms:modified xsi:type="dcterms:W3CDTF">2011-08-01T06:04:30Z</dcterms:modified>
  <cp:revision>1</cp:revision>
  <dc:title>Medical_Report_Summarizer_using_Transformer_final.pptx</dc:title>
</cp:coreProperties>
</file>